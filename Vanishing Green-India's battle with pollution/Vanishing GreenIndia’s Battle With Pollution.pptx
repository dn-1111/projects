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Cormorant Garamond Bold Italics" charset="1" panose="00000800000000000000"/>
      <p:regular r:id="rId27"/>
    </p:embeddedFont>
    <p:embeddedFont>
      <p:font typeface="Quicksand Bold" charset="1" panose="00000000000000000000"/>
      <p:regular r:id="rId28"/>
    </p:embeddedFont>
    <p:embeddedFont>
      <p:font typeface="Arimo Bold" charset="1" panose="020B0704020202020204"/>
      <p:regular r:id="rId29"/>
    </p:embeddedFont>
    <p:embeddedFont>
      <p:font typeface="Arimo" charset="1" panose="020B0604020202020204"/>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https://public.tableau.com/views/Vanishinggreen/Dashboard15?:language=en-US&amp;:sid=&amp;:redirect=auth&amp;:display_count=n&amp;:origin=viz_share_link" TargetMode="External" Type="http://schemas.openxmlformats.org/officeDocument/2006/relationships/hyperlink"/><Relationship Id="rId5" Target="https://public.tableau.com/views/Vanishinggreen/Dashboard15?:language=en-US&amp;:sid=&amp;:redirect=auth&amp;:display_count=n&amp;:origin=viz_share_link" TargetMode="External" Type="http://schemas.openxmlformats.org/officeDocument/2006/relationships/hyperlink"/></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DEFE1"/>
        </a:solidFill>
      </p:bgPr>
    </p:bg>
    <p:spTree>
      <p:nvGrpSpPr>
        <p:cNvPr id="1" name=""/>
        <p:cNvGrpSpPr/>
        <p:nvPr/>
      </p:nvGrpSpPr>
      <p:grpSpPr>
        <a:xfrm>
          <a:off x="0" y="0"/>
          <a:ext cx="0" cy="0"/>
          <a:chOff x="0" y="0"/>
          <a:chExt cx="0" cy="0"/>
        </a:xfrm>
      </p:grpSpPr>
      <p:sp>
        <p:nvSpPr>
          <p:cNvPr name="Freeform 2" id="2"/>
          <p:cNvSpPr/>
          <p:nvPr/>
        </p:nvSpPr>
        <p:spPr>
          <a:xfrm flipH="false" flipV="false" rot="0">
            <a:off x="9618706" y="9037492"/>
            <a:ext cx="2968854" cy="441617"/>
          </a:xfrm>
          <a:custGeom>
            <a:avLst/>
            <a:gdLst/>
            <a:ahLst/>
            <a:cxnLst/>
            <a:rect r="r" b="b" t="t" l="l"/>
            <a:pathLst>
              <a:path h="441617" w="2968854">
                <a:moveTo>
                  <a:pt x="0" y="0"/>
                </a:moveTo>
                <a:lnTo>
                  <a:pt x="2968854" y="0"/>
                </a:lnTo>
                <a:lnTo>
                  <a:pt x="2968854" y="441616"/>
                </a:lnTo>
                <a:lnTo>
                  <a:pt x="0" y="4416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44000" y="-139700"/>
            <a:ext cx="9494483" cy="10293010"/>
          </a:xfrm>
          <a:custGeom>
            <a:avLst/>
            <a:gdLst/>
            <a:ahLst/>
            <a:cxnLst/>
            <a:rect r="r" b="b" t="t" l="l"/>
            <a:pathLst>
              <a:path h="10293010" w="9494483">
                <a:moveTo>
                  <a:pt x="0" y="0"/>
                </a:moveTo>
                <a:lnTo>
                  <a:pt x="9494483" y="0"/>
                </a:lnTo>
                <a:lnTo>
                  <a:pt x="9494483" y="10293010"/>
                </a:lnTo>
                <a:lnTo>
                  <a:pt x="0" y="10293010"/>
                </a:lnTo>
                <a:lnTo>
                  <a:pt x="0" y="0"/>
                </a:lnTo>
                <a:close/>
              </a:path>
            </a:pathLst>
          </a:custGeom>
          <a:blipFill>
            <a:blip r:embed="rId4"/>
            <a:stretch>
              <a:fillRect l="-36812" t="0" r="-41812" b="0"/>
            </a:stretch>
          </a:blipFill>
        </p:spPr>
      </p:sp>
      <p:sp>
        <p:nvSpPr>
          <p:cNvPr name="TextBox 4" id="4"/>
          <p:cNvSpPr txBox="true"/>
          <p:nvPr/>
        </p:nvSpPr>
        <p:spPr>
          <a:xfrm rot="0">
            <a:off x="-510787" y="1491470"/>
            <a:ext cx="9916497" cy="2835034"/>
          </a:xfrm>
          <a:prstGeom prst="rect">
            <a:avLst/>
          </a:prstGeom>
        </p:spPr>
        <p:txBody>
          <a:bodyPr anchor="t" rtlCol="false" tIns="0" lIns="0" bIns="0" rIns="0">
            <a:spAutoFit/>
          </a:bodyPr>
          <a:lstStyle/>
          <a:p>
            <a:pPr algn="ctr" marL="0" indent="0" lvl="0">
              <a:lnSpc>
                <a:spcPts val="11424"/>
              </a:lnSpc>
              <a:spcBef>
                <a:spcPct val="0"/>
              </a:spcBef>
            </a:pPr>
            <a:r>
              <a:rPr lang="en-US" b="true" sz="8160" i="true">
                <a:solidFill>
                  <a:srgbClr val="0A8472"/>
                </a:solidFill>
                <a:latin typeface="Cormorant Garamond Bold Italics"/>
                <a:ea typeface="Cormorant Garamond Bold Italics"/>
                <a:cs typeface="Cormorant Garamond Bold Italics"/>
                <a:sym typeface="Cormorant Garamond Bold Italics"/>
              </a:rPr>
              <a:t>Vanishing Green:India’s Battle With Pollution</a:t>
            </a:r>
          </a:p>
        </p:txBody>
      </p:sp>
      <p:sp>
        <p:nvSpPr>
          <p:cNvPr name="TextBox 5" id="5"/>
          <p:cNvSpPr txBox="true"/>
          <p:nvPr/>
        </p:nvSpPr>
        <p:spPr>
          <a:xfrm rot="0">
            <a:off x="451315" y="4911555"/>
            <a:ext cx="8418286" cy="2734945"/>
          </a:xfrm>
          <a:prstGeom prst="rect">
            <a:avLst/>
          </a:prstGeom>
        </p:spPr>
        <p:txBody>
          <a:bodyPr anchor="t" rtlCol="false" tIns="0" lIns="0" bIns="0" rIns="0">
            <a:spAutoFit/>
          </a:bodyPr>
          <a:lstStyle/>
          <a:p>
            <a:pPr algn="ctr">
              <a:lnSpc>
                <a:spcPts val="7279"/>
              </a:lnSpc>
            </a:pPr>
            <a:r>
              <a:rPr lang="en-US" b="true" sz="5199" i="true">
                <a:solidFill>
                  <a:srgbClr val="0C71A4"/>
                </a:solidFill>
                <a:latin typeface="Cormorant Garamond Bold Italics"/>
                <a:ea typeface="Cormorant Garamond Bold Italics"/>
                <a:cs typeface="Cormorant Garamond Bold Italics"/>
                <a:sym typeface="Cormorant Garamond Bold Italics"/>
              </a:rPr>
              <a:t>A Data-Driven Analysis of Tree Destruction &amp; Environmental Impact (2010–2023)</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DEFE1"/>
        </a:solidFill>
      </p:bgPr>
    </p:bg>
    <p:spTree>
      <p:nvGrpSpPr>
        <p:cNvPr id="1" name=""/>
        <p:cNvGrpSpPr/>
        <p:nvPr/>
      </p:nvGrpSpPr>
      <p:grpSpPr>
        <a:xfrm>
          <a:off x="0" y="0"/>
          <a:ext cx="0" cy="0"/>
          <a:chOff x="0" y="0"/>
          <a:chExt cx="0" cy="0"/>
        </a:xfrm>
      </p:grpSpPr>
      <p:sp>
        <p:nvSpPr>
          <p:cNvPr name="TextBox 2" id="2"/>
          <p:cNvSpPr txBox="true"/>
          <p:nvPr/>
        </p:nvSpPr>
        <p:spPr>
          <a:xfrm rot="0">
            <a:off x="4163754" y="4284142"/>
            <a:ext cx="9960491" cy="3282950"/>
          </a:xfrm>
          <a:prstGeom prst="rect">
            <a:avLst/>
          </a:prstGeom>
        </p:spPr>
        <p:txBody>
          <a:bodyPr anchor="t" rtlCol="false" tIns="0" lIns="0" bIns="0" rIns="0">
            <a:spAutoFit/>
          </a:bodyPr>
          <a:lstStyle/>
          <a:p>
            <a:pPr algn="ctr">
              <a:lnSpc>
                <a:spcPts val="4419"/>
              </a:lnSpc>
            </a:pPr>
            <a:r>
              <a:rPr lang="en-US" sz="2599" b="true">
                <a:solidFill>
                  <a:srgbClr val="0C71A4"/>
                </a:solidFill>
                <a:latin typeface="Quicksand Bold"/>
                <a:ea typeface="Quicksand Bold"/>
                <a:cs typeface="Quicksand Bold"/>
                <a:sym typeface="Quicksand Bold"/>
              </a:rPr>
              <a:t>This project aims to analyze environmental damage in India from 2010–2023, focusing on tree destruction, pollution incidents, affected regions, causes, and government responses. The goal is to uncover insights that inform policy and action.</a:t>
            </a:r>
          </a:p>
          <a:p>
            <a:pPr algn="ctr" marL="0" indent="0" lvl="0">
              <a:lnSpc>
                <a:spcPts val="4419"/>
              </a:lnSpc>
            </a:pPr>
          </a:p>
        </p:txBody>
      </p:sp>
      <p:sp>
        <p:nvSpPr>
          <p:cNvPr name="AutoShape 3" id="3"/>
          <p:cNvSpPr/>
          <p:nvPr/>
        </p:nvSpPr>
        <p:spPr>
          <a:xfrm>
            <a:off x="5897880" y="3568974"/>
            <a:ext cx="6492240" cy="0"/>
          </a:xfrm>
          <a:prstGeom prst="line">
            <a:avLst/>
          </a:prstGeom>
          <a:ln cap="flat" w="76200">
            <a:solidFill>
              <a:srgbClr val="0F4662"/>
            </a:solidFill>
            <a:prstDash val="solid"/>
            <a:headEnd type="none" len="sm" w="sm"/>
            <a:tailEnd type="none" len="sm" w="sm"/>
          </a:ln>
        </p:spPr>
      </p:sp>
      <p:sp>
        <p:nvSpPr>
          <p:cNvPr name="AutoShape 4" id="4"/>
          <p:cNvSpPr/>
          <p:nvPr/>
        </p:nvSpPr>
        <p:spPr>
          <a:xfrm>
            <a:off x="5897880" y="7528992"/>
            <a:ext cx="6492240" cy="0"/>
          </a:xfrm>
          <a:prstGeom prst="line">
            <a:avLst/>
          </a:prstGeom>
          <a:ln cap="flat" w="76200">
            <a:solidFill>
              <a:srgbClr val="0F4662"/>
            </a:solidFill>
            <a:prstDash val="solid"/>
            <a:headEnd type="none" len="sm" w="sm"/>
            <a:tailEnd type="none" len="sm" w="sm"/>
          </a:ln>
        </p:spPr>
      </p:sp>
      <p:sp>
        <p:nvSpPr>
          <p:cNvPr name="Freeform 5" id="5"/>
          <p:cNvSpPr/>
          <p:nvPr/>
        </p:nvSpPr>
        <p:spPr>
          <a:xfrm flipH="false" flipV="false" rot="0">
            <a:off x="8304001" y="2470557"/>
            <a:ext cx="1679997" cy="249900"/>
          </a:xfrm>
          <a:custGeom>
            <a:avLst/>
            <a:gdLst/>
            <a:ahLst/>
            <a:cxnLst/>
            <a:rect r="r" b="b" t="t" l="l"/>
            <a:pathLst>
              <a:path h="249900" w="1679997">
                <a:moveTo>
                  <a:pt x="0" y="0"/>
                </a:moveTo>
                <a:lnTo>
                  <a:pt x="1679998" y="0"/>
                </a:lnTo>
                <a:lnTo>
                  <a:pt x="1679998" y="249899"/>
                </a:lnTo>
                <a:lnTo>
                  <a:pt x="0" y="2498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28700" y="599709"/>
            <a:ext cx="8048163"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A8472"/>
                </a:solidFill>
                <a:latin typeface="Cormorant Garamond Bold Italics"/>
                <a:ea typeface="Cormorant Garamond Bold Italics"/>
                <a:cs typeface="Cormorant Garamond Bold Italics"/>
                <a:sym typeface="Cormorant Garamond Bold Italics"/>
              </a:rPr>
              <a:t>Project Objective</a:t>
            </a:r>
          </a:p>
        </p:txBody>
      </p:sp>
      <p:sp>
        <p:nvSpPr>
          <p:cNvPr name="Freeform 7" id="7"/>
          <p:cNvSpPr/>
          <p:nvPr/>
        </p:nvSpPr>
        <p:spPr>
          <a:xfrm flipH="false" flipV="false" rot="0">
            <a:off x="8304001" y="8348142"/>
            <a:ext cx="1679997" cy="249900"/>
          </a:xfrm>
          <a:custGeom>
            <a:avLst/>
            <a:gdLst/>
            <a:ahLst/>
            <a:cxnLst/>
            <a:rect r="r" b="b" t="t" l="l"/>
            <a:pathLst>
              <a:path h="249900" w="1679997">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DEFE1"/>
        </a:solidFill>
      </p:bgPr>
    </p:bg>
    <p:spTree>
      <p:nvGrpSpPr>
        <p:cNvPr id="1" name=""/>
        <p:cNvGrpSpPr/>
        <p:nvPr/>
      </p:nvGrpSpPr>
      <p:grpSpPr>
        <a:xfrm>
          <a:off x="0" y="0"/>
          <a:ext cx="0" cy="0"/>
          <a:chOff x="0" y="0"/>
          <a:chExt cx="0" cy="0"/>
        </a:xfrm>
      </p:grpSpPr>
      <p:grpSp>
        <p:nvGrpSpPr>
          <p:cNvPr name="Group 2" id="2"/>
          <p:cNvGrpSpPr/>
          <p:nvPr/>
        </p:nvGrpSpPr>
        <p:grpSpPr>
          <a:xfrm rot="0">
            <a:off x="14093893" y="15849"/>
            <a:ext cx="4194107" cy="10271151"/>
            <a:chOff x="0" y="0"/>
            <a:chExt cx="1104621" cy="2705159"/>
          </a:xfrm>
        </p:grpSpPr>
        <p:sp>
          <p:nvSpPr>
            <p:cNvPr name="Freeform 3" id="3"/>
            <p:cNvSpPr/>
            <p:nvPr/>
          </p:nvSpPr>
          <p:spPr>
            <a:xfrm flipH="false" flipV="false" rot="0">
              <a:off x="0" y="0"/>
              <a:ext cx="1104621" cy="2705159"/>
            </a:xfrm>
            <a:custGeom>
              <a:avLst/>
              <a:gdLst/>
              <a:ahLst/>
              <a:cxnLst/>
              <a:rect r="r" b="b" t="t" l="l"/>
              <a:pathLst>
                <a:path h="2705159" w="1104621">
                  <a:moveTo>
                    <a:pt x="0" y="0"/>
                  </a:moveTo>
                  <a:lnTo>
                    <a:pt x="1104621" y="0"/>
                  </a:lnTo>
                  <a:lnTo>
                    <a:pt x="1104621" y="2705159"/>
                  </a:lnTo>
                  <a:lnTo>
                    <a:pt x="0" y="2705159"/>
                  </a:lnTo>
                  <a:close/>
                </a:path>
              </a:pathLst>
            </a:custGeom>
            <a:solidFill>
              <a:srgbClr val="7994A0"/>
            </a:solidFill>
          </p:spPr>
        </p:sp>
        <p:sp>
          <p:nvSpPr>
            <p:cNvPr name="TextBox 4" id="4"/>
            <p:cNvSpPr txBox="true"/>
            <p:nvPr/>
          </p:nvSpPr>
          <p:spPr>
            <a:xfrm>
              <a:off x="0" y="-47625"/>
              <a:ext cx="1104621" cy="2752784"/>
            </a:xfrm>
            <a:prstGeom prst="rect">
              <a:avLst/>
            </a:prstGeom>
          </p:spPr>
          <p:txBody>
            <a:bodyPr anchor="ctr" rtlCol="false" tIns="50800" lIns="50800" bIns="50800" rIns="50800"/>
            <a:lstStyle/>
            <a:p>
              <a:pPr algn="ctr">
                <a:lnSpc>
                  <a:spcPts val="3693"/>
                </a:lnSpc>
              </a:pPr>
            </a:p>
          </p:txBody>
        </p:sp>
      </p:grpSp>
      <p:sp>
        <p:nvSpPr>
          <p:cNvPr name="Freeform 5" id="5"/>
          <p:cNvSpPr/>
          <p:nvPr/>
        </p:nvSpPr>
        <p:spPr>
          <a:xfrm flipH="false" flipV="false" rot="0">
            <a:off x="1028700" y="8974931"/>
            <a:ext cx="1905000" cy="283369"/>
          </a:xfrm>
          <a:custGeom>
            <a:avLst/>
            <a:gdLst/>
            <a:ahLst/>
            <a:cxnLst/>
            <a:rect r="r" b="b" t="t" l="l"/>
            <a:pathLst>
              <a:path h="283369" w="1905000">
                <a:moveTo>
                  <a:pt x="0" y="0"/>
                </a:moveTo>
                <a:lnTo>
                  <a:pt x="1905000" y="0"/>
                </a:lnTo>
                <a:lnTo>
                  <a:pt x="1905000" y="283369"/>
                </a:lnTo>
                <a:lnTo>
                  <a:pt x="0" y="2833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204809" y="15849"/>
            <a:ext cx="8765408" cy="10437753"/>
          </a:xfrm>
          <a:custGeom>
            <a:avLst/>
            <a:gdLst/>
            <a:ahLst/>
            <a:cxnLst/>
            <a:rect r="r" b="b" t="t" l="l"/>
            <a:pathLst>
              <a:path h="10437753" w="8765408">
                <a:moveTo>
                  <a:pt x="0" y="0"/>
                </a:moveTo>
                <a:lnTo>
                  <a:pt x="8765408" y="0"/>
                </a:lnTo>
                <a:lnTo>
                  <a:pt x="8765408" y="10437752"/>
                </a:lnTo>
                <a:lnTo>
                  <a:pt x="0" y="10437752"/>
                </a:lnTo>
                <a:lnTo>
                  <a:pt x="0" y="0"/>
                </a:lnTo>
                <a:close/>
              </a:path>
            </a:pathLst>
          </a:custGeom>
          <a:blipFill>
            <a:blip r:embed="rId4"/>
            <a:stretch>
              <a:fillRect l="-36981" t="0" r="-36981" b="0"/>
            </a:stretch>
          </a:blipFill>
        </p:spPr>
      </p:sp>
      <p:sp>
        <p:nvSpPr>
          <p:cNvPr name="TextBox 7" id="7"/>
          <p:cNvSpPr txBox="true"/>
          <p:nvPr/>
        </p:nvSpPr>
        <p:spPr>
          <a:xfrm rot="0">
            <a:off x="1028700" y="599709"/>
            <a:ext cx="9390243"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A8472"/>
                </a:solidFill>
                <a:latin typeface="Cormorant Garamond Bold Italics"/>
                <a:ea typeface="Cormorant Garamond Bold Italics"/>
                <a:cs typeface="Cormorant Garamond Bold Italics"/>
                <a:sym typeface="Cormorant Garamond Bold Italics"/>
              </a:rPr>
              <a:t>Data And Methodology</a:t>
            </a:r>
          </a:p>
        </p:txBody>
      </p:sp>
      <p:sp>
        <p:nvSpPr>
          <p:cNvPr name="TextBox 8" id="8"/>
          <p:cNvSpPr txBox="true"/>
          <p:nvPr/>
        </p:nvSpPr>
        <p:spPr>
          <a:xfrm rot="0">
            <a:off x="0" y="2461692"/>
            <a:ext cx="9909895" cy="4493970"/>
          </a:xfrm>
          <a:prstGeom prst="rect">
            <a:avLst/>
          </a:prstGeom>
        </p:spPr>
        <p:txBody>
          <a:bodyPr anchor="t" rtlCol="false" tIns="0" lIns="0" bIns="0" rIns="0">
            <a:spAutoFit/>
          </a:bodyPr>
          <a:lstStyle/>
          <a:p>
            <a:pPr algn="l">
              <a:lnSpc>
                <a:spcPts val="3250"/>
              </a:lnSpc>
            </a:pPr>
          </a:p>
          <a:p>
            <a:pPr algn="l" marL="501328" indent="-250664" lvl="1">
              <a:lnSpc>
                <a:spcPts val="3250"/>
              </a:lnSpc>
              <a:buFont typeface="Arial"/>
              <a:buChar char="•"/>
            </a:pPr>
            <a:r>
              <a:rPr lang="en-US" b="true" sz="2322">
                <a:solidFill>
                  <a:srgbClr val="0C71A4"/>
                </a:solidFill>
                <a:latin typeface="Quicksand Bold"/>
                <a:ea typeface="Quicksand Bold"/>
                <a:cs typeface="Quicksand Bold"/>
                <a:sym typeface="Quicksand Bold"/>
              </a:rPr>
              <a:t>This project utilises data from a </a:t>
            </a:r>
            <a:r>
              <a:rPr lang="en-US" b="true" sz="2322">
                <a:solidFill>
                  <a:srgbClr val="000000"/>
                </a:solidFill>
                <a:latin typeface="Quicksand Bold"/>
                <a:ea typeface="Quicksand Bold"/>
                <a:cs typeface="Quicksand Bold"/>
                <a:sym typeface="Quicksand Bold"/>
              </a:rPr>
              <a:t>Kaggle</a:t>
            </a:r>
            <a:r>
              <a:rPr lang="en-US" b="true" sz="2322">
                <a:solidFill>
                  <a:srgbClr val="0C71A4"/>
                </a:solidFill>
                <a:latin typeface="Quicksand Bold"/>
                <a:ea typeface="Quicksand Bold"/>
                <a:cs typeface="Quicksand Bold"/>
                <a:sym typeface="Quicksand Bold"/>
              </a:rPr>
              <a:t> dataset spanning 2010 to 2023 to examine the scope and causes of environmental degradation in India.</a:t>
            </a:r>
          </a:p>
          <a:p>
            <a:pPr algn="l" marL="501328" indent="-250664" lvl="1">
              <a:lnSpc>
                <a:spcPts val="3250"/>
              </a:lnSpc>
              <a:buFont typeface="Arial"/>
              <a:buChar char="•"/>
            </a:pPr>
            <a:r>
              <a:rPr lang="en-US" b="true" sz="2322">
                <a:solidFill>
                  <a:srgbClr val="0C71A4"/>
                </a:solidFill>
                <a:latin typeface="Quicksand Bold"/>
                <a:ea typeface="Quicksand Bold"/>
                <a:cs typeface="Quicksand Bold"/>
                <a:sym typeface="Quicksand Bold"/>
              </a:rPr>
              <a:t>The data underwent a cleaning process and was visualized using </a:t>
            </a:r>
            <a:r>
              <a:rPr lang="en-US" b="true" sz="2322">
                <a:solidFill>
                  <a:srgbClr val="000000"/>
                </a:solidFill>
                <a:latin typeface="Quicksand Bold"/>
                <a:ea typeface="Quicksand Bold"/>
                <a:cs typeface="Quicksand Bold"/>
                <a:sym typeface="Quicksand Bold"/>
              </a:rPr>
              <a:t>Tableau</a:t>
            </a:r>
            <a:r>
              <a:rPr lang="en-US" b="true" sz="2322">
                <a:solidFill>
                  <a:srgbClr val="0C71A4"/>
                </a:solidFill>
                <a:latin typeface="Quicksand Bold"/>
                <a:ea typeface="Quicksand Bold"/>
                <a:cs typeface="Quicksand Bold"/>
                <a:sym typeface="Quicksand Bold"/>
              </a:rPr>
              <a:t>.</a:t>
            </a:r>
          </a:p>
          <a:p>
            <a:pPr algn="l" marL="1002656" indent="-334219" lvl="2">
              <a:lnSpc>
                <a:spcPts val="3250"/>
              </a:lnSpc>
              <a:buFont typeface="Arial"/>
              <a:buChar char="⚬"/>
            </a:pPr>
            <a:r>
              <a:rPr lang="en-US" b="true" sz="2322">
                <a:solidFill>
                  <a:srgbClr val="0C71A4"/>
                </a:solidFill>
                <a:latin typeface="Quicksand Bold"/>
                <a:ea typeface="Quicksand Bold"/>
                <a:cs typeface="Quicksand Bold"/>
                <a:sym typeface="Quicksand Bold"/>
              </a:rPr>
              <a:t>The visualisations featured maps, key performance indicators (KPIs), heat maps, bar charts, and pie charts.</a:t>
            </a:r>
          </a:p>
          <a:p>
            <a:pPr algn="l">
              <a:lnSpc>
                <a:spcPts val="3250"/>
              </a:lnSpc>
            </a:pPr>
          </a:p>
          <a:p>
            <a:pPr algn="l" marL="0" indent="0" lvl="0">
              <a:lnSpc>
                <a:spcPts val="3250"/>
              </a:lnSpc>
            </a:pPr>
            <a:r>
              <a:rPr lang="en-US" b="true" sz="2322">
                <a:solidFill>
                  <a:srgbClr val="0C71A4"/>
                </a:solidFill>
                <a:latin typeface="Quicksand Bold"/>
                <a:ea typeface="Quicksand Bold"/>
                <a:cs typeface="Quicksand Bold"/>
                <a:sym typeface="Quicksand Bold"/>
              </a:rPr>
              <a:t>Additionally, calculated fields were developed for % of total incidents,% of trees destroyed, average response time.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DEFE1"/>
        </a:solidFill>
      </p:bgPr>
    </p:bg>
    <p:spTree>
      <p:nvGrpSpPr>
        <p:cNvPr id="1" name=""/>
        <p:cNvGrpSpPr/>
        <p:nvPr/>
      </p:nvGrpSpPr>
      <p:grpSpPr>
        <a:xfrm>
          <a:off x="0" y="0"/>
          <a:ext cx="0" cy="0"/>
          <a:chOff x="0" y="0"/>
          <a:chExt cx="0" cy="0"/>
        </a:xfrm>
      </p:grpSpPr>
      <p:sp>
        <p:nvSpPr>
          <p:cNvPr name="Freeform 2" id="2"/>
          <p:cNvSpPr/>
          <p:nvPr/>
        </p:nvSpPr>
        <p:spPr>
          <a:xfrm flipH="false" flipV="false" rot="0">
            <a:off x="-1202300" y="2228978"/>
            <a:ext cx="20656771" cy="8058022"/>
          </a:xfrm>
          <a:custGeom>
            <a:avLst/>
            <a:gdLst/>
            <a:ahLst/>
            <a:cxnLst/>
            <a:rect r="r" b="b" t="t" l="l"/>
            <a:pathLst>
              <a:path h="8058022" w="20656771">
                <a:moveTo>
                  <a:pt x="0" y="0"/>
                </a:moveTo>
                <a:lnTo>
                  <a:pt x="20656771" y="0"/>
                </a:lnTo>
                <a:lnTo>
                  <a:pt x="20656771" y="8058022"/>
                </a:lnTo>
                <a:lnTo>
                  <a:pt x="0" y="8058022"/>
                </a:lnTo>
                <a:lnTo>
                  <a:pt x="0" y="0"/>
                </a:lnTo>
                <a:close/>
              </a:path>
            </a:pathLst>
          </a:custGeom>
          <a:blipFill>
            <a:blip r:embed="rId2"/>
            <a:stretch>
              <a:fillRect l="0" t="-50013" r="0" b="-20886"/>
            </a:stretch>
          </a:blipFill>
        </p:spPr>
      </p:sp>
      <p:sp>
        <p:nvSpPr>
          <p:cNvPr name="TextBox 3" id="3"/>
          <p:cNvSpPr txBox="true"/>
          <p:nvPr/>
        </p:nvSpPr>
        <p:spPr>
          <a:xfrm rot="0">
            <a:off x="5350628" y="491466"/>
            <a:ext cx="16922102" cy="969694"/>
          </a:xfrm>
          <a:prstGeom prst="rect">
            <a:avLst/>
          </a:prstGeom>
        </p:spPr>
        <p:txBody>
          <a:bodyPr anchor="t" rtlCol="false" tIns="0" lIns="0" bIns="0" rIns="0">
            <a:spAutoFit/>
          </a:bodyPr>
          <a:lstStyle/>
          <a:p>
            <a:pPr algn="l" marL="0" indent="0" lvl="0">
              <a:lnSpc>
                <a:spcPts val="7977"/>
              </a:lnSpc>
              <a:spcBef>
                <a:spcPct val="0"/>
              </a:spcBef>
            </a:pPr>
            <a:r>
              <a:rPr lang="en-US" b="true" sz="5698" i="true">
                <a:solidFill>
                  <a:srgbClr val="0A8472"/>
                </a:solidFill>
                <a:latin typeface="Cormorant Garamond Bold Italics"/>
                <a:ea typeface="Cormorant Garamond Bold Italics"/>
                <a:cs typeface="Cormorant Garamond Bold Italics"/>
                <a:sym typeface="Cormorant Garamond Bold Italics"/>
              </a:rPr>
              <a:t>Key Performance Indicators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DEFE1"/>
        </a:solidFill>
      </p:bgPr>
    </p:bg>
    <p:spTree>
      <p:nvGrpSpPr>
        <p:cNvPr id="1" name=""/>
        <p:cNvGrpSpPr/>
        <p:nvPr/>
      </p:nvGrpSpPr>
      <p:grpSpPr>
        <a:xfrm>
          <a:off x="0" y="0"/>
          <a:ext cx="0" cy="0"/>
          <a:chOff x="0" y="0"/>
          <a:chExt cx="0" cy="0"/>
        </a:xfrm>
      </p:grpSpPr>
      <p:sp>
        <p:nvSpPr>
          <p:cNvPr name="Freeform 2" id="2"/>
          <p:cNvSpPr/>
          <p:nvPr/>
        </p:nvSpPr>
        <p:spPr>
          <a:xfrm flipH="false" flipV="false" rot="0">
            <a:off x="0" y="2676886"/>
            <a:ext cx="11034803" cy="6458122"/>
          </a:xfrm>
          <a:custGeom>
            <a:avLst/>
            <a:gdLst/>
            <a:ahLst/>
            <a:cxnLst/>
            <a:rect r="r" b="b" t="t" l="l"/>
            <a:pathLst>
              <a:path h="6458122" w="11034803">
                <a:moveTo>
                  <a:pt x="0" y="0"/>
                </a:moveTo>
                <a:lnTo>
                  <a:pt x="11034803" y="0"/>
                </a:lnTo>
                <a:lnTo>
                  <a:pt x="11034803" y="6458121"/>
                </a:lnTo>
                <a:lnTo>
                  <a:pt x="0" y="6458121"/>
                </a:lnTo>
                <a:lnTo>
                  <a:pt x="0" y="0"/>
                </a:lnTo>
                <a:close/>
              </a:path>
            </a:pathLst>
          </a:custGeom>
          <a:blipFill>
            <a:blip r:embed="rId2"/>
            <a:stretch>
              <a:fillRect l="-525" t="-10605" r="-239" b="0"/>
            </a:stretch>
          </a:blipFill>
          <a:ln w="28575" cap="sq">
            <a:solidFill>
              <a:srgbClr val="A56054"/>
            </a:solidFill>
            <a:prstDash val="solid"/>
            <a:miter/>
          </a:ln>
        </p:spPr>
      </p:sp>
      <p:sp>
        <p:nvSpPr>
          <p:cNvPr name="TextBox 3" id="3"/>
          <p:cNvSpPr txBox="true"/>
          <p:nvPr/>
        </p:nvSpPr>
        <p:spPr>
          <a:xfrm rot="0">
            <a:off x="468273" y="277728"/>
            <a:ext cx="16922102" cy="1979344"/>
          </a:xfrm>
          <a:prstGeom prst="rect">
            <a:avLst/>
          </a:prstGeom>
        </p:spPr>
        <p:txBody>
          <a:bodyPr anchor="t" rtlCol="false" tIns="0" lIns="0" bIns="0" rIns="0">
            <a:spAutoFit/>
          </a:bodyPr>
          <a:lstStyle/>
          <a:p>
            <a:pPr algn="l">
              <a:lnSpc>
                <a:spcPts val="7977"/>
              </a:lnSpc>
            </a:pPr>
            <a:r>
              <a:rPr lang="en-US" sz="5698" i="true" b="true">
                <a:solidFill>
                  <a:srgbClr val="0A8472"/>
                </a:solidFill>
                <a:latin typeface="Cormorant Garamond Bold Italics"/>
                <a:ea typeface="Cormorant Garamond Bold Italics"/>
                <a:cs typeface="Cormorant Garamond Bold Italics"/>
                <a:sym typeface="Cormorant Garamond Bold Italics"/>
              </a:rPr>
              <a:t>Trends in Trees Destroyed and Incident Count (2010–2023)</a:t>
            </a:r>
          </a:p>
          <a:p>
            <a:pPr algn="l" marL="0" indent="0" lvl="0">
              <a:lnSpc>
                <a:spcPts val="7977"/>
              </a:lnSpc>
              <a:spcBef>
                <a:spcPct val="0"/>
              </a:spcBef>
            </a:pPr>
          </a:p>
        </p:txBody>
      </p:sp>
      <p:sp>
        <p:nvSpPr>
          <p:cNvPr name="TextBox 4" id="4"/>
          <p:cNvSpPr txBox="true"/>
          <p:nvPr/>
        </p:nvSpPr>
        <p:spPr>
          <a:xfrm rot="0">
            <a:off x="10930923" y="1426845"/>
            <a:ext cx="7253197" cy="8860155"/>
          </a:xfrm>
          <a:prstGeom prst="rect">
            <a:avLst/>
          </a:prstGeom>
        </p:spPr>
        <p:txBody>
          <a:bodyPr anchor="t" rtlCol="false" tIns="0" lIns="0" bIns="0" rIns="0">
            <a:spAutoFit/>
          </a:bodyPr>
          <a:lstStyle/>
          <a:p>
            <a:pPr algn="l" marL="604518" indent="-302259" lvl="1">
              <a:lnSpc>
                <a:spcPts val="3919"/>
              </a:lnSpc>
              <a:buFont typeface="Arial"/>
              <a:buChar char="•"/>
            </a:pPr>
            <a:r>
              <a:rPr lang="en-US" b="true" sz="2799">
                <a:solidFill>
                  <a:srgbClr val="000000"/>
                </a:solidFill>
                <a:latin typeface="Quicksand Bold"/>
                <a:ea typeface="Quicksand Bold"/>
                <a:cs typeface="Quicksand Bold"/>
                <a:sym typeface="Quicksand Bold"/>
              </a:rPr>
              <a:t>O</a:t>
            </a:r>
            <a:r>
              <a:rPr lang="en-US" b="true" sz="2799">
                <a:solidFill>
                  <a:srgbClr val="000000"/>
                </a:solidFill>
                <a:latin typeface="Quicksand Bold"/>
                <a:ea typeface="Quicksand Bold"/>
                <a:cs typeface="Quicksand Bold"/>
                <a:sym typeface="Quicksand Bold"/>
              </a:rPr>
              <a:t>bserved Correlation:</a:t>
            </a:r>
          </a:p>
          <a:p>
            <a:pPr algn="l" marL="1036320" indent="-345440" lvl="2">
              <a:lnSpc>
                <a:spcPts val="3359"/>
              </a:lnSpc>
              <a:buFont typeface="Arial"/>
              <a:buChar char="⚬"/>
            </a:pPr>
            <a:r>
              <a:rPr lang="en-US" b="true" sz="2400">
                <a:solidFill>
                  <a:srgbClr val="0C71A4"/>
                </a:solidFill>
                <a:latin typeface="Quicksand Bold"/>
                <a:ea typeface="Quicksand Bold"/>
                <a:cs typeface="Quicksand Bold"/>
                <a:sym typeface="Quicksand Bold"/>
              </a:rPr>
              <a:t>Years with a higher number of pollution incidents generally experience greater tree loss (e.g., 2012, 2015).</a:t>
            </a:r>
          </a:p>
          <a:p>
            <a:pPr algn="l">
              <a:lnSpc>
                <a:spcPts val="3359"/>
              </a:lnSpc>
            </a:pPr>
          </a:p>
          <a:p>
            <a:pPr algn="l" marL="604519" indent="-302260" lvl="1">
              <a:lnSpc>
                <a:spcPts val="3919"/>
              </a:lnSpc>
              <a:buFont typeface="Arial"/>
              <a:buChar char="•"/>
            </a:pPr>
            <a:r>
              <a:rPr lang="en-US" b="true" sz="2799">
                <a:solidFill>
                  <a:srgbClr val="000000"/>
                </a:solidFill>
                <a:latin typeface="Quicksand Bold"/>
                <a:ea typeface="Quicksand Bold"/>
                <a:cs typeface="Quicksand Bold"/>
                <a:sym typeface="Quicksand Bold"/>
              </a:rPr>
              <a:t>Incomplete Drop in 2023:</a:t>
            </a:r>
          </a:p>
          <a:p>
            <a:pPr algn="l" marL="993141" indent="-331047" lvl="2">
              <a:lnSpc>
                <a:spcPts val="3220"/>
              </a:lnSpc>
              <a:buFont typeface="Arial"/>
              <a:buChar char="⚬"/>
            </a:pPr>
            <a:r>
              <a:rPr lang="en-US" b="true" sz="2300">
                <a:solidFill>
                  <a:srgbClr val="0C71A4"/>
                </a:solidFill>
                <a:latin typeface="Quicksand Bold"/>
                <a:ea typeface="Quicksand Bold"/>
                <a:cs typeface="Quicksand Bold"/>
                <a:sym typeface="Quicksand Bold"/>
              </a:rPr>
              <a:t>The year 2023 shows a decline in both metrics; however, this is primarily due to data being available for only three quarte</a:t>
            </a:r>
            <a:r>
              <a:rPr lang="en-US" b="true" sz="2300">
                <a:solidFill>
                  <a:srgbClr val="0C71A4"/>
                </a:solidFill>
                <a:latin typeface="Quicksand Bold"/>
                <a:ea typeface="Quicksand Bold"/>
                <a:cs typeface="Quicksand Bold"/>
                <a:sym typeface="Quicksand Bold"/>
              </a:rPr>
              <a:t>rs</a:t>
            </a:r>
          </a:p>
          <a:p>
            <a:pPr algn="l">
              <a:lnSpc>
                <a:spcPts val="3220"/>
              </a:lnSpc>
            </a:pPr>
          </a:p>
          <a:p>
            <a:pPr algn="l" marL="604519" indent="-302260" lvl="1">
              <a:lnSpc>
                <a:spcPts val="3919"/>
              </a:lnSpc>
              <a:buFont typeface="Arial"/>
              <a:buChar char="•"/>
            </a:pPr>
            <a:r>
              <a:rPr lang="en-US" b="true" sz="2799">
                <a:solidFill>
                  <a:srgbClr val="000000"/>
                </a:solidFill>
                <a:latin typeface="Quicksand Bold"/>
                <a:ea typeface="Quicksand Bold"/>
                <a:cs typeface="Quicksand Bold"/>
                <a:sym typeface="Quicksand Bold"/>
              </a:rPr>
              <a:t>Complex Causation:</a:t>
            </a:r>
          </a:p>
          <a:p>
            <a:pPr algn="l" marL="993141" indent="-331047" lvl="2">
              <a:lnSpc>
                <a:spcPts val="3220"/>
              </a:lnSpc>
              <a:buFont typeface="Arial"/>
              <a:buChar char="⚬"/>
            </a:pPr>
            <a:r>
              <a:rPr lang="en-US" b="true" sz="2300">
                <a:solidFill>
                  <a:srgbClr val="0C71A4"/>
                </a:solidFill>
                <a:latin typeface="Quicksand Bold"/>
                <a:ea typeface="Quicksand Bold"/>
                <a:cs typeface="Quicksand Bold"/>
                <a:sym typeface="Quicksand Bold"/>
              </a:rPr>
              <a:t>Pollution can harm trees through air, water, and soil contamination.</a:t>
            </a:r>
          </a:p>
          <a:p>
            <a:pPr algn="l" marL="993141" indent="-331047" lvl="2">
              <a:lnSpc>
                <a:spcPts val="3220"/>
              </a:lnSpc>
              <a:buFont typeface="Arial"/>
              <a:buChar char="⚬"/>
            </a:pPr>
            <a:r>
              <a:rPr lang="en-US" b="true" sz="2300">
                <a:solidFill>
                  <a:srgbClr val="0C71A4"/>
                </a:solidFill>
                <a:latin typeface="Quicksand Bold"/>
                <a:ea typeface="Quicksand Bold"/>
                <a:cs typeface="Quicksand Bold"/>
                <a:sym typeface="Quicksand Bold"/>
              </a:rPr>
              <a:t>The destruction of trees can worsen pollution, leading to a decrease in natural air filtration.</a:t>
            </a:r>
          </a:p>
          <a:p>
            <a:pPr algn="l">
              <a:lnSpc>
                <a:spcPts val="3220"/>
              </a:lnSpc>
            </a:pPr>
          </a:p>
          <a:p>
            <a:pPr algn="l" marL="604519" indent="-302260" lvl="1">
              <a:lnSpc>
                <a:spcPts val="3919"/>
              </a:lnSpc>
              <a:buFont typeface="Arial"/>
              <a:buChar char="•"/>
            </a:pPr>
            <a:r>
              <a:rPr lang="en-US" b="true" sz="2799">
                <a:solidFill>
                  <a:srgbClr val="000000"/>
                </a:solidFill>
                <a:latin typeface="Quicksand Bold"/>
                <a:ea typeface="Quicksand Bold"/>
                <a:cs typeface="Quicksand Bold"/>
                <a:sym typeface="Quicksand Bold"/>
              </a:rPr>
              <a:t>Likely Feedback Loop:</a:t>
            </a:r>
          </a:p>
          <a:p>
            <a:pPr algn="l" marL="993141" indent="-331047" lvl="2">
              <a:lnSpc>
                <a:spcPts val="3220"/>
              </a:lnSpc>
              <a:buFont typeface="Arial"/>
              <a:buChar char="⚬"/>
            </a:pPr>
            <a:r>
              <a:rPr lang="en-US" b="true" sz="2300">
                <a:solidFill>
                  <a:srgbClr val="0C71A4"/>
                </a:solidFill>
                <a:latin typeface="Quicksand Bold"/>
                <a:ea typeface="Quicksand Bold"/>
                <a:cs typeface="Quicksand Bold"/>
                <a:sym typeface="Quicksand Bold"/>
              </a:rPr>
              <a:t>These two factors may reinforce each other, resulting in a cycle of environmental degradation.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DEFE1"/>
        </a:solidFill>
      </p:bgPr>
    </p:bg>
    <p:spTree>
      <p:nvGrpSpPr>
        <p:cNvPr id="1" name=""/>
        <p:cNvGrpSpPr/>
        <p:nvPr/>
      </p:nvGrpSpPr>
      <p:grpSpPr>
        <a:xfrm>
          <a:off x="0" y="0"/>
          <a:ext cx="0" cy="0"/>
          <a:chOff x="0" y="0"/>
          <a:chExt cx="0" cy="0"/>
        </a:xfrm>
      </p:grpSpPr>
      <p:sp>
        <p:nvSpPr>
          <p:cNvPr name="Freeform 2" id="2"/>
          <p:cNvSpPr/>
          <p:nvPr/>
        </p:nvSpPr>
        <p:spPr>
          <a:xfrm flipH="false" flipV="false" rot="0">
            <a:off x="307299" y="2370326"/>
            <a:ext cx="9635490" cy="7033084"/>
          </a:xfrm>
          <a:custGeom>
            <a:avLst/>
            <a:gdLst/>
            <a:ahLst/>
            <a:cxnLst/>
            <a:rect r="r" b="b" t="t" l="l"/>
            <a:pathLst>
              <a:path h="7033084" w="9635490">
                <a:moveTo>
                  <a:pt x="0" y="0"/>
                </a:moveTo>
                <a:lnTo>
                  <a:pt x="9635490" y="0"/>
                </a:lnTo>
                <a:lnTo>
                  <a:pt x="9635490" y="7033085"/>
                </a:lnTo>
                <a:lnTo>
                  <a:pt x="0" y="7033085"/>
                </a:lnTo>
                <a:lnTo>
                  <a:pt x="0" y="0"/>
                </a:lnTo>
                <a:close/>
              </a:path>
            </a:pathLst>
          </a:custGeom>
          <a:blipFill>
            <a:blip r:embed="rId2"/>
            <a:stretch>
              <a:fillRect l="0" t="0" r="0" b="0"/>
            </a:stretch>
          </a:blipFill>
          <a:ln w="38100" cap="sq">
            <a:solidFill>
              <a:srgbClr val="A56054"/>
            </a:solidFill>
            <a:prstDash val="solid"/>
            <a:miter/>
          </a:ln>
        </p:spPr>
      </p:sp>
      <p:sp>
        <p:nvSpPr>
          <p:cNvPr name="TextBox 3" id="3"/>
          <p:cNvSpPr txBox="true"/>
          <p:nvPr/>
        </p:nvSpPr>
        <p:spPr>
          <a:xfrm rot="0">
            <a:off x="307299" y="160573"/>
            <a:ext cx="16813755" cy="2094393"/>
          </a:xfrm>
          <a:prstGeom prst="rect">
            <a:avLst/>
          </a:prstGeom>
        </p:spPr>
        <p:txBody>
          <a:bodyPr anchor="t" rtlCol="false" tIns="0" lIns="0" bIns="0" rIns="0">
            <a:spAutoFit/>
          </a:bodyPr>
          <a:lstStyle/>
          <a:p>
            <a:pPr algn="l">
              <a:lnSpc>
                <a:spcPts val="8460"/>
              </a:lnSpc>
            </a:pPr>
            <a:r>
              <a:rPr lang="en-US" sz="6043" i="true" b="true">
                <a:solidFill>
                  <a:srgbClr val="0A8472"/>
                </a:solidFill>
                <a:latin typeface="Cormorant Garamond Bold Italics"/>
                <a:ea typeface="Cormorant Garamond Bold Italics"/>
                <a:cs typeface="Cormorant Garamond Bold Italics"/>
                <a:sym typeface="Cormorant Garamond Bold Italics"/>
              </a:rPr>
              <a:t>Geographic &amp; Cause Analysis</a:t>
            </a:r>
          </a:p>
          <a:p>
            <a:pPr algn="l" marL="0" indent="0" lvl="0">
              <a:lnSpc>
                <a:spcPts val="8460"/>
              </a:lnSpc>
              <a:spcBef>
                <a:spcPct val="0"/>
              </a:spcBef>
            </a:pPr>
          </a:p>
        </p:txBody>
      </p:sp>
      <p:sp>
        <p:nvSpPr>
          <p:cNvPr name="TextBox 4" id="4"/>
          <p:cNvSpPr txBox="true"/>
          <p:nvPr/>
        </p:nvSpPr>
        <p:spPr>
          <a:xfrm rot="0">
            <a:off x="10046258" y="971550"/>
            <a:ext cx="8241742" cy="9066530"/>
          </a:xfrm>
          <a:prstGeom prst="rect">
            <a:avLst/>
          </a:prstGeom>
        </p:spPr>
        <p:txBody>
          <a:bodyPr anchor="t" rtlCol="false" tIns="0" lIns="0" bIns="0" rIns="0">
            <a:spAutoFit/>
          </a:bodyPr>
          <a:lstStyle/>
          <a:p>
            <a:pPr algn="l">
              <a:lnSpc>
                <a:spcPts val="3359"/>
              </a:lnSpc>
            </a:pPr>
            <a:r>
              <a:rPr lang="en-US" sz="2399" b="true">
                <a:solidFill>
                  <a:srgbClr val="000000"/>
                </a:solidFill>
                <a:latin typeface="Quicksand Bold"/>
                <a:ea typeface="Quicksand Bold"/>
                <a:cs typeface="Quicksand Bold"/>
                <a:sym typeface="Quicksand Bold"/>
              </a:rPr>
              <a:t>Top 3 Causes of Tree Destruction:</a:t>
            </a:r>
          </a:p>
          <a:p>
            <a:pPr algn="l">
              <a:lnSpc>
                <a:spcPts val="3079"/>
              </a:lnSpc>
            </a:pPr>
            <a:r>
              <a:rPr lang="en-US" sz="2199" b="true">
                <a:solidFill>
                  <a:srgbClr val="0C71A4"/>
                </a:solidFill>
                <a:latin typeface="Quicksand Bold"/>
                <a:ea typeface="Quicksand Bold"/>
                <a:cs typeface="Quicksand Bold"/>
                <a:sym typeface="Quicksand Bold"/>
              </a:rPr>
              <a:t>    1.</a:t>
            </a:r>
            <a:r>
              <a:rPr lang="en-US" sz="2199" b="true">
                <a:solidFill>
                  <a:srgbClr val="0C71A4"/>
                </a:solidFill>
                <a:latin typeface="Quicksand Bold"/>
                <a:ea typeface="Quicksand Bold"/>
                <a:cs typeface="Quicksand Bold"/>
                <a:sym typeface="Quicksand Bold"/>
              </a:rPr>
              <a:t>Agricultural Runoff – 153,785 trees</a:t>
            </a:r>
          </a:p>
          <a:p>
            <a:pPr algn="l">
              <a:lnSpc>
                <a:spcPts val="3079"/>
              </a:lnSpc>
            </a:pPr>
            <a:r>
              <a:rPr lang="en-US" sz="2199" b="true">
                <a:solidFill>
                  <a:srgbClr val="0C71A4"/>
                </a:solidFill>
                <a:latin typeface="Quicksand Bold"/>
                <a:ea typeface="Quicksand Bold"/>
                <a:cs typeface="Quicksand Bold"/>
                <a:sym typeface="Quicksand Bold"/>
              </a:rPr>
              <a:t>    2.</a:t>
            </a:r>
            <a:r>
              <a:rPr lang="en-US" sz="2199" b="true">
                <a:solidFill>
                  <a:srgbClr val="0C71A4"/>
                </a:solidFill>
                <a:latin typeface="Quicksand Bold"/>
                <a:ea typeface="Quicksand Bold"/>
                <a:cs typeface="Quicksand Bold"/>
                <a:sym typeface="Quicksand Bold"/>
              </a:rPr>
              <a:t>Industrial Waste – 153,813 trees</a:t>
            </a:r>
          </a:p>
          <a:p>
            <a:pPr algn="l">
              <a:lnSpc>
                <a:spcPts val="3079"/>
              </a:lnSpc>
            </a:pPr>
            <a:r>
              <a:rPr lang="en-US" sz="2199" b="true">
                <a:solidFill>
                  <a:srgbClr val="0C71A4"/>
                </a:solidFill>
                <a:latin typeface="Quicksand Bold"/>
                <a:ea typeface="Quicksand Bold"/>
                <a:cs typeface="Quicksand Bold"/>
                <a:sym typeface="Quicksand Bold"/>
              </a:rPr>
              <a:t>    3.</a:t>
            </a:r>
            <a:r>
              <a:rPr lang="en-US" sz="2199" b="true">
                <a:solidFill>
                  <a:srgbClr val="0C71A4"/>
                </a:solidFill>
                <a:latin typeface="Quicksand Bold"/>
                <a:ea typeface="Quicksand Bold"/>
                <a:cs typeface="Quicksand Bold"/>
                <a:sym typeface="Quicksand Bold"/>
              </a:rPr>
              <a:t>Illegal Dumping – 153,187 trees</a:t>
            </a:r>
          </a:p>
          <a:p>
            <a:pPr algn="l" marL="474979" indent="-237490" lvl="1">
              <a:lnSpc>
                <a:spcPts val="3079"/>
              </a:lnSpc>
              <a:buFont typeface="Arial"/>
              <a:buChar char="•"/>
            </a:pPr>
            <a:r>
              <a:rPr lang="en-US" b="true" sz="2199">
                <a:solidFill>
                  <a:srgbClr val="0C71A4"/>
                </a:solidFill>
                <a:latin typeface="Quicksand Bold"/>
                <a:ea typeface="Quicksand Bold"/>
                <a:cs typeface="Quicksand Bold"/>
                <a:sym typeface="Quicksand Bold"/>
              </a:rPr>
              <a:t>Deforestation and urban expansion are closely following these causes, indicating that various human activities contribute almost equally to tree loss.</a:t>
            </a:r>
          </a:p>
          <a:p>
            <a:pPr algn="l">
              <a:lnSpc>
                <a:spcPts val="3079"/>
              </a:lnSpc>
            </a:pPr>
          </a:p>
          <a:p>
            <a:pPr algn="l" marL="0" indent="0" lvl="0">
              <a:lnSpc>
                <a:spcPts val="3359"/>
              </a:lnSpc>
            </a:pPr>
            <a:r>
              <a:rPr lang="en-US" b="true" sz="2399">
                <a:solidFill>
                  <a:srgbClr val="000000"/>
                </a:solidFill>
                <a:latin typeface="Quicksand Bold"/>
                <a:ea typeface="Quicksand Bold"/>
                <a:cs typeface="Quicksand Bold"/>
                <a:sym typeface="Quicksand Bold"/>
              </a:rPr>
              <a:t>State Hotspots:</a:t>
            </a:r>
          </a:p>
          <a:p>
            <a:pPr algn="l" marL="474979" indent="-237490" lvl="1">
              <a:lnSpc>
                <a:spcPts val="3079"/>
              </a:lnSpc>
              <a:buFont typeface="Arial"/>
              <a:buChar char="•"/>
            </a:pPr>
            <a:r>
              <a:rPr lang="en-US" b="true" sz="2199">
                <a:solidFill>
                  <a:srgbClr val="0C71A4"/>
                </a:solidFill>
                <a:latin typeface="Quicksand Bold"/>
                <a:ea typeface="Quicksand Bold"/>
                <a:cs typeface="Quicksand Bold"/>
                <a:sym typeface="Quicksand Bold"/>
              </a:rPr>
              <a:t>Maharashtra, Tamil Nadu, Karnataka, and Kerala consistently report high destruction figures across all causes.</a:t>
            </a:r>
          </a:p>
          <a:p>
            <a:pPr algn="l" marL="474979" indent="-237490" lvl="1">
              <a:lnSpc>
                <a:spcPts val="3079"/>
              </a:lnSpc>
              <a:buFont typeface="Arial"/>
              <a:buChar char="•"/>
            </a:pPr>
            <a:r>
              <a:rPr lang="en-US" b="true" sz="2199">
                <a:solidFill>
                  <a:srgbClr val="0C71A4"/>
                </a:solidFill>
                <a:latin typeface="Quicksand Bold"/>
                <a:ea typeface="Quicksand Bold"/>
                <a:cs typeface="Quicksand Bold"/>
                <a:sym typeface="Quicksand Bold"/>
              </a:rPr>
              <a:t>Kerala particularly experiences significant losses due to illegal dumping (20,780 trees) and agricultural runoff (13,684 trees).</a:t>
            </a:r>
          </a:p>
          <a:p>
            <a:pPr algn="l" marL="474979" indent="-237490" lvl="1">
              <a:lnSpc>
                <a:spcPts val="3079"/>
              </a:lnSpc>
              <a:buFont typeface="Arial"/>
              <a:buChar char="•"/>
            </a:pPr>
            <a:r>
              <a:rPr lang="en-US" b="true" sz="2199">
                <a:solidFill>
                  <a:srgbClr val="0C71A4"/>
                </a:solidFill>
                <a:latin typeface="Quicksand Bold"/>
                <a:ea typeface="Quicksand Bold"/>
                <a:cs typeface="Quicksand Bold"/>
                <a:sym typeface="Quicksand Bold"/>
              </a:rPr>
              <a:t>West Bengal and Odisha show comparatively lower figures but are still present in all categories.</a:t>
            </a:r>
          </a:p>
          <a:p>
            <a:pPr algn="l">
              <a:lnSpc>
                <a:spcPts val="3079"/>
              </a:lnSpc>
            </a:pPr>
          </a:p>
          <a:p>
            <a:pPr algn="l" marL="0" indent="0" lvl="0">
              <a:lnSpc>
                <a:spcPts val="3359"/>
              </a:lnSpc>
            </a:pPr>
            <a:r>
              <a:rPr lang="en-US" b="true" sz="2399">
                <a:solidFill>
                  <a:srgbClr val="000000"/>
                </a:solidFill>
                <a:latin typeface="Quicksand Bold"/>
                <a:ea typeface="Quicksand Bold"/>
                <a:cs typeface="Quicksand Bold"/>
                <a:sym typeface="Quicksand Bold"/>
              </a:rPr>
              <a:t>Multifactor Pressure:</a:t>
            </a:r>
          </a:p>
          <a:p>
            <a:pPr algn="l" marL="474979" indent="-237490" lvl="1">
              <a:lnSpc>
                <a:spcPts val="3079"/>
              </a:lnSpc>
              <a:buFont typeface="Arial"/>
              <a:buChar char="•"/>
            </a:pPr>
            <a:r>
              <a:rPr lang="en-US" b="true" sz="2199">
                <a:solidFill>
                  <a:srgbClr val="0C71A4"/>
                </a:solidFill>
                <a:latin typeface="Quicksand Bold"/>
                <a:ea typeface="Quicksand Bold"/>
                <a:cs typeface="Quicksand Bold"/>
                <a:sym typeface="Quicksand Bold"/>
              </a:rPr>
              <a:t>The data indicates that tree loss is not solely caused by one major factor; rather, it results from a combination of multiple environmental threats across different states.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DEFE1"/>
        </a:solidFill>
      </p:bgPr>
    </p:bg>
    <p:spTree>
      <p:nvGrpSpPr>
        <p:cNvPr id="1" name=""/>
        <p:cNvGrpSpPr/>
        <p:nvPr/>
      </p:nvGrpSpPr>
      <p:grpSpPr>
        <a:xfrm>
          <a:off x="0" y="0"/>
          <a:ext cx="0" cy="0"/>
          <a:chOff x="0" y="0"/>
          <a:chExt cx="0" cy="0"/>
        </a:xfrm>
      </p:grpSpPr>
      <p:sp>
        <p:nvSpPr>
          <p:cNvPr name="Freeform 2" id="2"/>
          <p:cNvSpPr/>
          <p:nvPr/>
        </p:nvSpPr>
        <p:spPr>
          <a:xfrm flipH="false" flipV="false" rot="0">
            <a:off x="161231" y="3403773"/>
            <a:ext cx="10538984" cy="3919195"/>
          </a:xfrm>
          <a:custGeom>
            <a:avLst/>
            <a:gdLst/>
            <a:ahLst/>
            <a:cxnLst/>
            <a:rect r="r" b="b" t="t" l="l"/>
            <a:pathLst>
              <a:path h="3919195" w="10538984">
                <a:moveTo>
                  <a:pt x="0" y="0"/>
                </a:moveTo>
                <a:lnTo>
                  <a:pt x="10538984" y="0"/>
                </a:lnTo>
                <a:lnTo>
                  <a:pt x="10538984" y="3919195"/>
                </a:lnTo>
                <a:lnTo>
                  <a:pt x="0" y="3919195"/>
                </a:lnTo>
                <a:lnTo>
                  <a:pt x="0" y="0"/>
                </a:lnTo>
                <a:close/>
              </a:path>
            </a:pathLst>
          </a:custGeom>
          <a:blipFill>
            <a:blip r:embed="rId2"/>
            <a:stretch>
              <a:fillRect l="-1529" t="0" r="-3739" b="0"/>
            </a:stretch>
          </a:blipFill>
          <a:ln w="38100" cap="sq">
            <a:solidFill>
              <a:srgbClr val="A56054"/>
            </a:solidFill>
            <a:prstDash val="solid"/>
            <a:miter/>
          </a:ln>
        </p:spPr>
      </p:sp>
      <p:sp>
        <p:nvSpPr>
          <p:cNvPr name="TextBox 3" id="3"/>
          <p:cNvSpPr txBox="true"/>
          <p:nvPr/>
        </p:nvSpPr>
        <p:spPr>
          <a:xfrm rot="0">
            <a:off x="270550" y="121912"/>
            <a:ext cx="16813755" cy="1027593"/>
          </a:xfrm>
          <a:prstGeom prst="rect">
            <a:avLst/>
          </a:prstGeom>
        </p:spPr>
        <p:txBody>
          <a:bodyPr anchor="t" rtlCol="false" tIns="0" lIns="0" bIns="0" rIns="0">
            <a:spAutoFit/>
          </a:bodyPr>
          <a:lstStyle/>
          <a:p>
            <a:pPr algn="l" marL="0" indent="0" lvl="0">
              <a:lnSpc>
                <a:spcPts val="8460"/>
              </a:lnSpc>
              <a:spcBef>
                <a:spcPct val="0"/>
              </a:spcBef>
            </a:pPr>
            <a:r>
              <a:rPr lang="en-US" b="true" sz="6043" i="true">
                <a:solidFill>
                  <a:srgbClr val="0A8472"/>
                </a:solidFill>
                <a:latin typeface="Cormorant Garamond Bold Italics"/>
                <a:ea typeface="Cormorant Garamond Bold Italics"/>
                <a:cs typeface="Cormorant Garamond Bold Italics"/>
                <a:sym typeface="Cormorant Garamond Bold Italics"/>
              </a:rPr>
              <a:t>Exploring Connection Between Tree Loss and AQI Of States</a:t>
            </a:r>
          </a:p>
        </p:txBody>
      </p:sp>
      <p:sp>
        <p:nvSpPr>
          <p:cNvPr name="TextBox 4" id="4"/>
          <p:cNvSpPr txBox="true"/>
          <p:nvPr/>
        </p:nvSpPr>
        <p:spPr>
          <a:xfrm rot="0">
            <a:off x="10700215" y="1486534"/>
            <a:ext cx="7281032" cy="8800466"/>
          </a:xfrm>
          <a:prstGeom prst="rect">
            <a:avLst/>
          </a:prstGeom>
        </p:spPr>
        <p:txBody>
          <a:bodyPr anchor="t" rtlCol="false" tIns="0" lIns="0" bIns="0" rIns="0">
            <a:spAutoFit/>
          </a:bodyPr>
          <a:lstStyle/>
          <a:p>
            <a:pPr algn="l" marL="539745" indent="-269872" lvl="1">
              <a:lnSpc>
                <a:spcPts val="3499"/>
              </a:lnSpc>
              <a:buFont typeface="Arial"/>
              <a:buChar char="•"/>
            </a:pPr>
            <a:r>
              <a:rPr lang="en-US" b="true" sz="2499">
                <a:solidFill>
                  <a:srgbClr val="000000"/>
                </a:solidFill>
                <a:latin typeface="Quicksand Bold"/>
                <a:ea typeface="Quicksand Bold"/>
                <a:cs typeface="Quicksand Bold"/>
                <a:sym typeface="Quicksand Bold"/>
              </a:rPr>
              <a:t>Gujarat</a:t>
            </a:r>
            <a:r>
              <a:rPr lang="en-US" b="true" sz="2499">
                <a:solidFill>
                  <a:srgbClr val="0C71A4"/>
                </a:solidFill>
                <a:latin typeface="Quicksand Bold"/>
                <a:ea typeface="Quicksand Bold"/>
                <a:cs typeface="Quicksand Bold"/>
                <a:sym typeface="Quicksand Bold"/>
              </a:rPr>
              <a:t> has the highest AQI (236.6) but not the highest tree loss  pointing to non-forest related pollution like industrial emissions or urban traffic.</a:t>
            </a:r>
          </a:p>
          <a:p>
            <a:pPr algn="l">
              <a:lnSpc>
                <a:spcPts val="3499"/>
              </a:lnSpc>
            </a:pPr>
          </a:p>
          <a:p>
            <a:pPr algn="l" marL="539745" indent="-269872" lvl="1">
              <a:lnSpc>
                <a:spcPts val="3499"/>
              </a:lnSpc>
              <a:buFont typeface="Arial"/>
              <a:buChar char="•"/>
            </a:pPr>
            <a:r>
              <a:rPr lang="en-US" b="true" sz="2499">
                <a:solidFill>
                  <a:srgbClr val="000000"/>
                </a:solidFill>
                <a:latin typeface="Quicksand Bold"/>
                <a:ea typeface="Quicksand Bold"/>
                <a:cs typeface="Quicksand Bold"/>
                <a:sym typeface="Quicksand Bold"/>
              </a:rPr>
              <a:t>Karnataka and Maharashtra</a:t>
            </a:r>
            <a:r>
              <a:rPr lang="en-US" b="true" sz="2499">
                <a:solidFill>
                  <a:srgbClr val="0C71A4"/>
                </a:solidFill>
                <a:latin typeface="Quicksand Bold"/>
                <a:ea typeface="Quicksand Bold"/>
                <a:cs typeface="Quicksand Bold"/>
                <a:sym typeface="Quicksand Bold"/>
              </a:rPr>
              <a:t> show both high tree loss and moderately high AQI, suggesting a combined effect of deforestation and pollution.</a:t>
            </a:r>
          </a:p>
          <a:p>
            <a:pPr algn="l">
              <a:lnSpc>
                <a:spcPts val="3499"/>
              </a:lnSpc>
            </a:pPr>
          </a:p>
          <a:p>
            <a:pPr algn="l" marL="539745" indent="-269872" lvl="1">
              <a:lnSpc>
                <a:spcPts val="3499"/>
              </a:lnSpc>
              <a:buFont typeface="Arial"/>
              <a:buChar char="•"/>
            </a:pPr>
            <a:r>
              <a:rPr lang="en-US" b="true" sz="2499">
                <a:solidFill>
                  <a:srgbClr val="000000"/>
                </a:solidFill>
                <a:latin typeface="Quicksand Bold"/>
                <a:ea typeface="Quicksand Bold"/>
                <a:cs typeface="Quicksand Bold"/>
                <a:sym typeface="Quicksand Bold"/>
              </a:rPr>
              <a:t>Uttar Pradesh</a:t>
            </a:r>
            <a:r>
              <a:rPr lang="en-US" b="true" sz="2499">
                <a:solidFill>
                  <a:srgbClr val="0C71A4"/>
                </a:solidFill>
                <a:latin typeface="Quicksand Bold"/>
                <a:ea typeface="Quicksand Bold"/>
                <a:cs typeface="Quicksand Bold"/>
                <a:sym typeface="Quicksand Bold"/>
              </a:rPr>
              <a:t> shows moderate tree loss but best air quality (AQI 209)  possibly due to better vegetation cover in key areas or lower industrial density.</a:t>
            </a:r>
          </a:p>
          <a:p>
            <a:pPr algn="l">
              <a:lnSpc>
                <a:spcPts val="3499"/>
              </a:lnSpc>
            </a:pPr>
          </a:p>
          <a:p>
            <a:pPr algn="l" marL="539745" indent="-269872" lvl="1">
              <a:lnSpc>
                <a:spcPts val="3499"/>
              </a:lnSpc>
              <a:buFont typeface="Arial"/>
              <a:buChar char="•"/>
            </a:pPr>
            <a:r>
              <a:rPr lang="en-US" b="true" sz="2499">
                <a:solidFill>
                  <a:srgbClr val="0C71A4"/>
                </a:solidFill>
                <a:latin typeface="Quicksand Bold"/>
                <a:ea typeface="Quicksand Bold"/>
                <a:cs typeface="Quicksand Bold"/>
                <a:sym typeface="Quicksand Bold"/>
              </a:rPr>
              <a:t>There is no perfect one-to-one correlation, reinforcing the idea that air pollution is multi-causal, though tree destruction does amplify its impact.</a:t>
            </a:r>
          </a:p>
          <a:p>
            <a:pPr algn="l">
              <a:lnSpc>
                <a:spcPts val="391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DEFE1"/>
        </a:solidFill>
      </p:bgPr>
    </p:bg>
    <p:spTree>
      <p:nvGrpSpPr>
        <p:cNvPr id="1" name=""/>
        <p:cNvGrpSpPr/>
        <p:nvPr/>
      </p:nvGrpSpPr>
      <p:grpSpPr>
        <a:xfrm>
          <a:off x="0" y="0"/>
          <a:ext cx="0" cy="0"/>
          <a:chOff x="0" y="0"/>
          <a:chExt cx="0" cy="0"/>
        </a:xfrm>
      </p:grpSpPr>
      <p:sp>
        <p:nvSpPr>
          <p:cNvPr name="Freeform 2" id="2"/>
          <p:cNvSpPr/>
          <p:nvPr/>
        </p:nvSpPr>
        <p:spPr>
          <a:xfrm flipH="false" flipV="false" rot="0">
            <a:off x="779099" y="3012517"/>
            <a:ext cx="8689166" cy="5131726"/>
          </a:xfrm>
          <a:custGeom>
            <a:avLst/>
            <a:gdLst/>
            <a:ahLst/>
            <a:cxnLst/>
            <a:rect r="r" b="b" t="t" l="l"/>
            <a:pathLst>
              <a:path h="5131726" w="8689166">
                <a:moveTo>
                  <a:pt x="0" y="0"/>
                </a:moveTo>
                <a:lnTo>
                  <a:pt x="8689166" y="0"/>
                </a:lnTo>
                <a:lnTo>
                  <a:pt x="8689166" y="5131725"/>
                </a:lnTo>
                <a:lnTo>
                  <a:pt x="0" y="5131725"/>
                </a:lnTo>
                <a:lnTo>
                  <a:pt x="0" y="0"/>
                </a:lnTo>
                <a:close/>
              </a:path>
            </a:pathLst>
          </a:custGeom>
          <a:blipFill>
            <a:blip r:embed="rId2"/>
            <a:stretch>
              <a:fillRect l="0" t="-1012" r="0" b="0"/>
            </a:stretch>
          </a:blipFill>
          <a:ln w="38100" cap="sq">
            <a:solidFill>
              <a:srgbClr val="A56054"/>
            </a:solidFill>
            <a:prstDash val="solid"/>
            <a:miter/>
          </a:ln>
        </p:spPr>
      </p:sp>
      <p:sp>
        <p:nvSpPr>
          <p:cNvPr name="TextBox 3" id="3"/>
          <p:cNvSpPr txBox="true"/>
          <p:nvPr/>
        </p:nvSpPr>
        <p:spPr>
          <a:xfrm rot="0">
            <a:off x="270550" y="121912"/>
            <a:ext cx="16813755" cy="1027593"/>
          </a:xfrm>
          <a:prstGeom prst="rect">
            <a:avLst/>
          </a:prstGeom>
        </p:spPr>
        <p:txBody>
          <a:bodyPr anchor="t" rtlCol="false" tIns="0" lIns="0" bIns="0" rIns="0">
            <a:spAutoFit/>
          </a:bodyPr>
          <a:lstStyle/>
          <a:p>
            <a:pPr algn="l" marL="0" indent="0" lvl="0">
              <a:lnSpc>
                <a:spcPts val="8460"/>
              </a:lnSpc>
              <a:spcBef>
                <a:spcPct val="0"/>
              </a:spcBef>
            </a:pPr>
            <a:r>
              <a:rPr lang="en-US" b="true" sz="6043" i="true">
                <a:solidFill>
                  <a:srgbClr val="0A8472"/>
                </a:solidFill>
                <a:latin typeface="Cormorant Garamond Bold Italics"/>
                <a:ea typeface="Cormorant Garamond Bold Italics"/>
                <a:cs typeface="Cormorant Garamond Bold Italics"/>
                <a:sym typeface="Cormorant Garamond Bold Italics"/>
              </a:rPr>
              <a:t>Wildlife Loss Across Pollution Causes</a:t>
            </a:r>
          </a:p>
        </p:txBody>
      </p:sp>
      <p:sp>
        <p:nvSpPr>
          <p:cNvPr name="TextBox 4" id="4"/>
          <p:cNvSpPr txBox="true"/>
          <p:nvPr/>
        </p:nvSpPr>
        <p:spPr>
          <a:xfrm rot="0">
            <a:off x="10019055" y="1461943"/>
            <a:ext cx="7065250" cy="8378960"/>
          </a:xfrm>
          <a:prstGeom prst="rect">
            <a:avLst/>
          </a:prstGeom>
        </p:spPr>
        <p:txBody>
          <a:bodyPr anchor="t" rtlCol="false" tIns="0" lIns="0" bIns="0" rIns="0">
            <a:spAutoFit/>
          </a:bodyPr>
          <a:lstStyle/>
          <a:p>
            <a:pPr algn="just">
              <a:lnSpc>
                <a:spcPts val="3317"/>
              </a:lnSpc>
            </a:pPr>
          </a:p>
          <a:p>
            <a:pPr algn="just" marL="511612" indent="-255806" lvl="1">
              <a:lnSpc>
                <a:spcPts val="3317"/>
              </a:lnSpc>
              <a:buFont typeface="Arial"/>
              <a:buChar char="•"/>
            </a:pPr>
            <a:r>
              <a:rPr lang="en-US" b="true" sz="2369">
                <a:solidFill>
                  <a:srgbClr val="000000"/>
                </a:solidFill>
                <a:latin typeface="Quicksand Bold"/>
                <a:ea typeface="Quicksand Bold"/>
                <a:cs typeface="Quicksand Bold"/>
                <a:sym typeface="Quicksand Bold"/>
              </a:rPr>
              <a:t>Illegal Dumping </a:t>
            </a:r>
            <a:r>
              <a:rPr lang="en-US" b="true" sz="2369">
                <a:solidFill>
                  <a:srgbClr val="0C71A4"/>
                </a:solidFill>
                <a:latin typeface="Quicksand Bold"/>
                <a:ea typeface="Quicksand Bold"/>
                <a:cs typeface="Quicksand Bold"/>
                <a:sym typeface="Quicksand Bold"/>
              </a:rPr>
              <a:t>is the most detrimental to wildlife, impacting over 93k+ animals, likely due to toxic exposure and habitat contamination.</a:t>
            </a:r>
          </a:p>
          <a:p>
            <a:pPr algn="just">
              <a:lnSpc>
                <a:spcPts val="3317"/>
              </a:lnSpc>
            </a:pPr>
          </a:p>
          <a:p>
            <a:pPr algn="just" marL="511612" indent="-255806" lvl="1">
              <a:lnSpc>
                <a:spcPts val="3317"/>
              </a:lnSpc>
              <a:buFont typeface="Arial"/>
              <a:buChar char="•"/>
            </a:pPr>
            <a:r>
              <a:rPr lang="en-US" b="true" sz="2369">
                <a:solidFill>
                  <a:srgbClr val="000000"/>
                </a:solidFill>
                <a:latin typeface="Quicksand Bold"/>
                <a:ea typeface="Quicksand Bold"/>
                <a:cs typeface="Quicksand Bold"/>
                <a:sym typeface="Quicksand Bold"/>
              </a:rPr>
              <a:t>Agricultural Runoff</a:t>
            </a:r>
            <a:r>
              <a:rPr lang="en-US" b="true" sz="2369">
                <a:solidFill>
                  <a:srgbClr val="0C71A4"/>
                </a:solidFill>
                <a:latin typeface="Quicksand Bold"/>
                <a:ea typeface="Quicksand Bold"/>
                <a:cs typeface="Quicksand Bold"/>
                <a:sym typeface="Quicksand Bold"/>
              </a:rPr>
              <a:t> follows closely, leading to losses of more than 92.8k+ wildlife, primarily from pesticides and fertilizers infiltrating ecosystems.</a:t>
            </a:r>
          </a:p>
          <a:p>
            <a:pPr algn="just">
              <a:lnSpc>
                <a:spcPts val="3317"/>
              </a:lnSpc>
            </a:pPr>
          </a:p>
          <a:p>
            <a:pPr algn="just" marL="511612" indent="-255806" lvl="1">
              <a:lnSpc>
                <a:spcPts val="3317"/>
              </a:lnSpc>
              <a:buFont typeface="Arial"/>
              <a:buChar char="•"/>
            </a:pPr>
            <a:r>
              <a:rPr lang="en-US" b="true" sz="2369">
                <a:solidFill>
                  <a:srgbClr val="000000"/>
                </a:solidFill>
                <a:latin typeface="Quicksand Bold"/>
                <a:ea typeface="Quicksand Bold"/>
                <a:cs typeface="Quicksand Bold"/>
                <a:sym typeface="Quicksand Bold"/>
              </a:rPr>
              <a:t>Urban Expansion and Industrial Waste </a:t>
            </a:r>
            <a:r>
              <a:rPr lang="en-US" b="true" sz="2369">
                <a:solidFill>
                  <a:srgbClr val="0C71A4"/>
                </a:solidFill>
                <a:latin typeface="Quicksand Bold"/>
                <a:ea typeface="Quicksand Bold"/>
                <a:cs typeface="Quicksand Bold"/>
                <a:sym typeface="Quicksand Bold"/>
              </a:rPr>
              <a:t>together account for over 38% of the total wildlife impact, highlighting the cumulative effects of unplanned development.</a:t>
            </a:r>
          </a:p>
          <a:p>
            <a:pPr algn="just">
              <a:lnSpc>
                <a:spcPts val="3317"/>
              </a:lnSpc>
            </a:pPr>
          </a:p>
          <a:p>
            <a:pPr algn="just" marL="511612" indent="-255806" lvl="1">
              <a:lnSpc>
                <a:spcPts val="3317"/>
              </a:lnSpc>
              <a:buFont typeface="Arial"/>
              <a:buChar char="•"/>
            </a:pPr>
            <a:r>
              <a:rPr lang="en-US" b="true" sz="2369">
                <a:solidFill>
                  <a:srgbClr val="0C71A4"/>
                </a:solidFill>
                <a:latin typeface="Quicksand Bold"/>
                <a:ea typeface="Quicksand Bold"/>
                <a:cs typeface="Quicksand Bold"/>
                <a:sym typeface="Quicksand Bold"/>
              </a:rPr>
              <a:t>Each of the five causes independently results in over 80K+ wildlife losses, emphasizing that no single factor can be overlooked in policy interventions.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DEFE1"/>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034658"/>
            <a:ext cx="7399023" cy="5305737"/>
          </a:xfrm>
          <a:custGeom>
            <a:avLst/>
            <a:gdLst/>
            <a:ahLst/>
            <a:cxnLst/>
            <a:rect r="r" b="b" t="t" l="l"/>
            <a:pathLst>
              <a:path h="5305737" w="7399023">
                <a:moveTo>
                  <a:pt x="0" y="0"/>
                </a:moveTo>
                <a:lnTo>
                  <a:pt x="7399023" y="0"/>
                </a:lnTo>
                <a:lnTo>
                  <a:pt x="7399023" y="5305736"/>
                </a:lnTo>
                <a:lnTo>
                  <a:pt x="0" y="5305736"/>
                </a:lnTo>
                <a:lnTo>
                  <a:pt x="0" y="0"/>
                </a:lnTo>
                <a:close/>
              </a:path>
            </a:pathLst>
          </a:custGeom>
          <a:blipFill>
            <a:blip r:embed="rId2"/>
            <a:stretch>
              <a:fillRect l="0" t="0" r="-1550" b="0"/>
            </a:stretch>
          </a:blipFill>
          <a:ln w="38100" cap="sq">
            <a:solidFill>
              <a:srgbClr val="A56054"/>
            </a:solidFill>
            <a:prstDash val="solid"/>
            <a:miter/>
          </a:ln>
        </p:spPr>
      </p:sp>
      <p:sp>
        <p:nvSpPr>
          <p:cNvPr name="TextBox 3" id="3"/>
          <p:cNvSpPr txBox="true"/>
          <p:nvPr/>
        </p:nvSpPr>
        <p:spPr>
          <a:xfrm rot="0">
            <a:off x="876771" y="236603"/>
            <a:ext cx="16813755" cy="2094393"/>
          </a:xfrm>
          <a:prstGeom prst="rect">
            <a:avLst/>
          </a:prstGeom>
        </p:spPr>
        <p:txBody>
          <a:bodyPr anchor="t" rtlCol="false" tIns="0" lIns="0" bIns="0" rIns="0">
            <a:spAutoFit/>
          </a:bodyPr>
          <a:lstStyle/>
          <a:p>
            <a:pPr algn="l" marL="0" indent="0" lvl="0">
              <a:lnSpc>
                <a:spcPts val="8460"/>
              </a:lnSpc>
              <a:spcBef>
                <a:spcPct val="0"/>
              </a:spcBef>
            </a:pPr>
            <a:r>
              <a:rPr lang="en-US" b="true" sz="6043" i="true">
                <a:solidFill>
                  <a:srgbClr val="0A8472"/>
                </a:solidFill>
                <a:latin typeface="Cormorant Garamond Bold Italics"/>
                <a:ea typeface="Cormorant Garamond Bold Italics"/>
                <a:cs typeface="Cormorant Garamond Bold Italics"/>
                <a:sym typeface="Cormorant Garamond Bold Italics"/>
              </a:rPr>
              <a:t>Which Environmental Damages Are Hardest To Recover From?</a:t>
            </a:r>
          </a:p>
        </p:txBody>
      </p:sp>
      <p:sp>
        <p:nvSpPr>
          <p:cNvPr name="TextBox 4" id="4"/>
          <p:cNvSpPr txBox="true"/>
          <p:nvPr/>
        </p:nvSpPr>
        <p:spPr>
          <a:xfrm rot="0">
            <a:off x="9507868" y="1754246"/>
            <a:ext cx="7751432" cy="7999731"/>
          </a:xfrm>
          <a:prstGeom prst="rect">
            <a:avLst/>
          </a:prstGeom>
        </p:spPr>
        <p:txBody>
          <a:bodyPr anchor="t" rtlCol="false" tIns="0" lIns="0" bIns="0" rIns="0">
            <a:spAutoFit/>
          </a:bodyPr>
          <a:lstStyle/>
          <a:p>
            <a:pPr algn="l" marL="496566" indent="-248283" lvl="1">
              <a:lnSpc>
                <a:spcPts val="3219"/>
              </a:lnSpc>
              <a:buFont typeface="Arial"/>
              <a:buChar char="•"/>
            </a:pPr>
            <a:r>
              <a:rPr lang="en-US" b="true" sz="2299">
                <a:solidFill>
                  <a:srgbClr val="000000"/>
                </a:solidFill>
                <a:latin typeface="Quicksand Bold"/>
                <a:ea typeface="Quicksand Bold"/>
                <a:cs typeface="Quicksand Bold"/>
                <a:sym typeface="Quicksand Bold"/>
              </a:rPr>
              <a:t>Urban Expansion </a:t>
            </a:r>
            <a:r>
              <a:rPr lang="en-US" b="true" sz="2299">
                <a:solidFill>
                  <a:srgbClr val="0C71A4"/>
                </a:solidFill>
                <a:latin typeface="Quicksand Bold"/>
                <a:ea typeface="Quicksand Bold"/>
                <a:cs typeface="Quicksand Bold"/>
                <a:sym typeface="Quicksand Bold"/>
              </a:rPr>
              <a:t>exhibits the lowest full recovery rate at 31.4%, coupled with the highest partial recovery rate of 35.8%, indicating that restoration tends to be slow or limited once urbanization occurs.</a:t>
            </a:r>
          </a:p>
          <a:p>
            <a:pPr algn="l">
              <a:lnSpc>
                <a:spcPts val="3219"/>
              </a:lnSpc>
            </a:pPr>
          </a:p>
          <a:p>
            <a:pPr algn="l" marL="496566" indent="-248283" lvl="1">
              <a:lnSpc>
                <a:spcPts val="3219"/>
              </a:lnSpc>
              <a:buFont typeface="Arial"/>
              <a:buChar char="•"/>
            </a:pPr>
            <a:r>
              <a:rPr lang="en-US" b="true" sz="2299">
                <a:solidFill>
                  <a:srgbClr val="000000"/>
                </a:solidFill>
                <a:latin typeface="Quicksand Bold"/>
                <a:ea typeface="Quicksand Bold"/>
                <a:cs typeface="Quicksand Bold"/>
                <a:sym typeface="Quicksand Bold"/>
              </a:rPr>
              <a:t>Illegal Dumping</a:t>
            </a:r>
            <a:r>
              <a:rPr lang="en-US" b="true" sz="2299">
                <a:solidFill>
                  <a:srgbClr val="0C71A4"/>
                </a:solidFill>
                <a:latin typeface="Quicksand Bold"/>
                <a:ea typeface="Quicksand Bold"/>
                <a:cs typeface="Quicksand Bold"/>
                <a:sym typeface="Quicksand Bold"/>
              </a:rPr>
              <a:t> presents the highest percentage of unrecovered cases at 34.16%, suggesting that full cleanup and restoration may prove challenging.</a:t>
            </a:r>
          </a:p>
          <a:p>
            <a:pPr algn="l">
              <a:lnSpc>
                <a:spcPts val="3219"/>
              </a:lnSpc>
            </a:pPr>
          </a:p>
          <a:p>
            <a:pPr algn="l" marL="496566" indent="-248283" lvl="1">
              <a:lnSpc>
                <a:spcPts val="3219"/>
              </a:lnSpc>
              <a:buFont typeface="Arial"/>
              <a:buChar char="•"/>
            </a:pPr>
            <a:r>
              <a:rPr lang="en-US" b="true" sz="2299">
                <a:solidFill>
                  <a:srgbClr val="000000"/>
                </a:solidFill>
                <a:latin typeface="Quicksand Bold"/>
                <a:ea typeface="Quicksand Bold"/>
                <a:cs typeface="Quicksand Bold"/>
                <a:sym typeface="Quicksand Bold"/>
              </a:rPr>
              <a:t>Industrial Waste and Deforestation</a:t>
            </a:r>
            <a:r>
              <a:rPr lang="en-US" b="true" sz="2299">
                <a:solidFill>
                  <a:srgbClr val="0C71A4"/>
                </a:solidFill>
                <a:latin typeface="Quicksand Bold"/>
                <a:ea typeface="Quicksand Bold"/>
                <a:cs typeface="Quicksand Bold"/>
                <a:sym typeface="Quicksand Bold"/>
              </a:rPr>
              <a:t> demonstrate a nearly equal distribution across various recovery statuses, each around 33%, reflecting moderate recovery success while still facing ongoing challenges.</a:t>
            </a:r>
          </a:p>
          <a:p>
            <a:pPr algn="l">
              <a:lnSpc>
                <a:spcPts val="3219"/>
              </a:lnSpc>
            </a:pPr>
          </a:p>
          <a:p>
            <a:pPr algn="l" marL="496566" indent="-248283" lvl="1">
              <a:lnSpc>
                <a:spcPts val="3219"/>
              </a:lnSpc>
              <a:buFont typeface="Arial"/>
              <a:buChar char="•"/>
            </a:pPr>
            <a:r>
              <a:rPr lang="en-US" b="true" sz="2299">
                <a:solidFill>
                  <a:srgbClr val="000000"/>
                </a:solidFill>
                <a:latin typeface="Quicksand Bold"/>
                <a:ea typeface="Quicksand Bold"/>
                <a:cs typeface="Quicksand Bold"/>
                <a:sym typeface="Quicksand Bold"/>
              </a:rPr>
              <a:t>Agricultural Runoff </a:t>
            </a:r>
            <a:r>
              <a:rPr lang="en-US" b="true" sz="2299">
                <a:solidFill>
                  <a:srgbClr val="0C71A4"/>
                </a:solidFill>
                <a:latin typeface="Quicksand Bold"/>
                <a:ea typeface="Quicksand Bold"/>
                <a:cs typeface="Quicksand Bold"/>
                <a:sym typeface="Quicksand Bold"/>
              </a:rPr>
              <a:t>boasts the highest recovery rate at 34.5%, indicating that it may be more manageable with enhanced practices and policies.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DEFE1"/>
        </a:solidFill>
      </p:bgPr>
    </p:bg>
    <p:spTree>
      <p:nvGrpSpPr>
        <p:cNvPr id="1" name=""/>
        <p:cNvGrpSpPr/>
        <p:nvPr/>
      </p:nvGrpSpPr>
      <p:grpSpPr>
        <a:xfrm>
          <a:off x="0" y="0"/>
          <a:ext cx="0" cy="0"/>
          <a:chOff x="0" y="0"/>
          <a:chExt cx="0" cy="0"/>
        </a:xfrm>
      </p:grpSpPr>
      <p:sp>
        <p:nvSpPr>
          <p:cNvPr name="Freeform 2" id="2"/>
          <p:cNvSpPr/>
          <p:nvPr/>
        </p:nvSpPr>
        <p:spPr>
          <a:xfrm flipH="false" flipV="false" rot="0">
            <a:off x="0" y="2982811"/>
            <a:ext cx="7372695" cy="5332755"/>
          </a:xfrm>
          <a:custGeom>
            <a:avLst/>
            <a:gdLst/>
            <a:ahLst/>
            <a:cxnLst/>
            <a:rect r="r" b="b" t="t" l="l"/>
            <a:pathLst>
              <a:path h="5332755" w="7372695">
                <a:moveTo>
                  <a:pt x="0" y="0"/>
                </a:moveTo>
                <a:lnTo>
                  <a:pt x="7372695" y="0"/>
                </a:lnTo>
                <a:lnTo>
                  <a:pt x="7372695" y="5332755"/>
                </a:lnTo>
                <a:lnTo>
                  <a:pt x="0" y="5332755"/>
                </a:lnTo>
                <a:lnTo>
                  <a:pt x="0" y="0"/>
                </a:lnTo>
                <a:close/>
              </a:path>
            </a:pathLst>
          </a:custGeom>
          <a:blipFill>
            <a:blip r:embed="rId2"/>
            <a:stretch>
              <a:fillRect l="0" t="0" r="0" b="0"/>
            </a:stretch>
          </a:blipFill>
          <a:ln w="38100" cap="sq">
            <a:solidFill>
              <a:srgbClr val="A56054"/>
            </a:solidFill>
            <a:prstDash val="solid"/>
            <a:miter/>
          </a:ln>
        </p:spPr>
      </p:sp>
      <p:sp>
        <p:nvSpPr>
          <p:cNvPr name="TextBox 3" id="3"/>
          <p:cNvSpPr txBox="true"/>
          <p:nvPr/>
        </p:nvSpPr>
        <p:spPr>
          <a:xfrm rot="0">
            <a:off x="876771" y="236603"/>
            <a:ext cx="16813755" cy="1027593"/>
          </a:xfrm>
          <a:prstGeom prst="rect">
            <a:avLst/>
          </a:prstGeom>
        </p:spPr>
        <p:txBody>
          <a:bodyPr anchor="t" rtlCol="false" tIns="0" lIns="0" bIns="0" rIns="0">
            <a:spAutoFit/>
          </a:bodyPr>
          <a:lstStyle/>
          <a:p>
            <a:pPr algn="l" marL="0" indent="0" lvl="0">
              <a:lnSpc>
                <a:spcPts val="8460"/>
              </a:lnSpc>
              <a:spcBef>
                <a:spcPct val="0"/>
              </a:spcBef>
            </a:pPr>
            <a:r>
              <a:rPr lang="en-US" b="true" sz="6043" i="true">
                <a:solidFill>
                  <a:srgbClr val="0A8472"/>
                </a:solidFill>
                <a:latin typeface="Cormorant Garamond Bold Italics"/>
                <a:ea typeface="Cormorant Garamond Bold Italics"/>
                <a:cs typeface="Cormorant Garamond Bold Italics"/>
                <a:sym typeface="Cormorant Garamond Bold Italics"/>
              </a:rPr>
              <a:t>State-wise Environmental Pressures by Pollution Type</a:t>
            </a:r>
          </a:p>
        </p:txBody>
      </p:sp>
      <p:sp>
        <p:nvSpPr>
          <p:cNvPr name="TextBox 4" id="4"/>
          <p:cNvSpPr txBox="true"/>
          <p:nvPr/>
        </p:nvSpPr>
        <p:spPr>
          <a:xfrm rot="0">
            <a:off x="7499765" y="1207046"/>
            <a:ext cx="10190760" cy="8827135"/>
          </a:xfrm>
          <a:prstGeom prst="rect">
            <a:avLst/>
          </a:prstGeom>
        </p:spPr>
        <p:txBody>
          <a:bodyPr anchor="t" rtlCol="false" tIns="0" lIns="0" bIns="0" rIns="0">
            <a:spAutoFit/>
          </a:bodyPr>
          <a:lstStyle/>
          <a:p>
            <a:pPr algn="l">
              <a:lnSpc>
                <a:spcPts val="3499"/>
              </a:lnSpc>
            </a:pPr>
            <a:r>
              <a:rPr lang="en-US" sz="2499" b="true">
                <a:solidFill>
                  <a:srgbClr val="000000"/>
                </a:solidFill>
                <a:latin typeface="Arimo Bold"/>
                <a:ea typeface="Arimo Bold"/>
                <a:cs typeface="Arimo Bold"/>
                <a:sym typeface="Arimo Bold"/>
              </a:rPr>
              <a:t>Bihar</a:t>
            </a:r>
          </a:p>
          <a:p>
            <a:pPr algn="l" marL="949959" indent="-316653" lvl="2">
              <a:lnSpc>
                <a:spcPts val="3079"/>
              </a:lnSpc>
              <a:buFont typeface="Arial"/>
              <a:buChar char="⚬"/>
            </a:pPr>
            <a:r>
              <a:rPr lang="en-US" b="true" sz="2199">
                <a:solidFill>
                  <a:srgbClr val="0C71A4"/>
                </a:solidFill>
                <a:latin typeface="Arimo Bold"/>
                <a:ea typeface="Arimo Bold"/>
                <a:cs typeface="Arimo Bold"/>
                <a:sym typeface="Arimo Bold"/>
              </a:rPr>
              <a:t>Faces the highest impact from deforestation with 72 incidents.</a:t>
            </a:r>
          </a:p>
          <a:p>
            <a:pPr algn="l" marL="949959" indent="-316653" lvl="2">
              <a:lnSpc>
                <a:spcPts val="3079"/>
              </a:lnSpc>
              <a:buFont typeface="Arial"/>
              <a:buChar char="⚬"/>
            </a:pPr>
            <a:r>
              <a:rPr lang="en-US" b="true" sz="2199">
                <a:solidFill>
                  <a:srgbClr val="0C71A4"/>
                </a:solidFill>
                <a:latin typeface="Arimo Bold"/>
                <a:ea typeface="Arimo Bold"/>
                <a:cs typeface="Arimo Bold"/>
                <a:sym typeface="Arimo Bold"/>
              </a:rPr>
              <a:t>Notable challenges in all other causes (ranging from 50 to 60), indicating diverse environmental issues.</a:t>
            </a:r>
          </a:p>
          <a:p>
            <a:pPr algn="l">
              <a:lnSpc>
                <a:spcPts val="3499"/>
              </a:lnSpc>
            </a:pPr>
            <a:r>
              <a:rPr lang="en-US" sz="2499" b="true">
                <a:solidFill>
                  <a:srgbClr val="000000"/>
                </a:solidFill>
                <a:latin typeface="Arimo Bold"/>
                <a:ea typeface="Arimo Bold"/>
                <a:cs typeface="Arimo Bold"/>
                <a:sym typeface="Arimo Bold"/>
              </a:rPr>
              <a:t>Gujarat</a:t>
            </a:r>
          </a:p>
          <a:p>
            <a:pPr algn="l" marL="949959" indent="-316653" lvl="2">
              <a:lnSpc>
                <a:spcPts val="3079"/>
              </a:lnSpc>
              <a:buFont typeface="Arial"/>
              <a:buChar char="⚬"/>
            </a:pPr>
            <a:r>
              <a:rPr lang="en-US" b="true" sz="2199">
                <a:solidFill>
                  <a:srgbClr val="0C71A4"/>
                </a:solidFill>
                <a:latin typeface="Arimo Bold"/>
                <a:ea typeface="Arimo Bold"/>
                <a:cs typeface="Arimo Bold"/>
                <a:sym typeface="Arimo Bold"/>
              </a:rPr>
              <a:t>High levels of agricultural runoff (63) and deforestation (69).</a:t>
            </a:r>
          </a:p>
          <a:p>
            <a:pPr algn="l" marL="949959" indent="-316653" lvl="2">
              <a:lnSpc>
                <a:spcPts val="3079"/>
              </a:lnSpc>
              <a:buFont typeface="Arial"/>
              <a:buChar char="⚬"/>
            </a:pPr>
            <a:r>
              <a:rPr lang="en-US" b="true" sz="2199">
                <a:solidFill>
                  <a:srgbClr val="0C71A4"/>
                </a:solidFill>
                <a:latin typeface="Arimo Bold"/>
                <a:ea typeface="Arimo Bold"/>
                <a:cs typeface="Arimo Bold"/>
                <a:sym typeface="Arimo Bold"/>
              </a:rPr>
              <a:t>Slightly lower in urban expansion (47), but continues to show consistent environmental stress.</a:t>
            </a:r>
          </a:p>
          <a:p>
            <a:pPr algn="l">
              <a:lnSpc>
                <a:spcPts val="3499"/>
              </a:lnSpc>
            </a:pPr>
            <a:r>
              <a:rPr lang="en-US" sz="2499" b="true">
                <a:solidFill>
                  <a:srgbClr val="000000"/>
                </a:solidFill>
                <a:latin typeface="Arimo Bold"/>
                <a:ea typeface="Arimo Bold"/>
                <a:cs typeface="Arimo Bold"/>
                <a:sym typeface="Arimo Bold"/>
              </a:rPr>
              <a:t>Karnataka</a:t>
            </a:r>
          </a:p>
          <a:p>
            <a:pPr algn="l" marL="949959" indent="-316653" lvl="2">
              <a:lnSpc>
                <a:spcPts val="3079"/>
              </a:lnSpc>
              <a:buFont typeface="Arial"/>
              <a:buChar char="⚬"/>
            </a:pPr>
            <a:r>
              <a:rPr lang="en-US" b="true" sz="2199">
                <a:solidFill>
                  <a:srgbClr val="0C71A4"/>
                </a:solidFill>
                <a:latin typeface="Arimo Bold"/>
                <a:ea typeface="Arimo Bold"/>
                <a:cs typeface="Arimo Bold"/>
                <a:sym typeface="Arimo Bold"/>
              </a:rPr>
              <a:t>Uniformly high incidents across all causes (each above 60).</a:t>
            </a:r>
          </a:p>
          <a:p>
            <a:pPr algn="l" marL="949959" indent="-316653" lvl="2">
              <a:lnSpc>
                <a:spcPts val="3079"/>
              </a:lnSpc>
              <a:buFont typeface="Arial"/>
              <a:buChar char="⚬"/>
            </a:pPr>
            <a:r>
              <a:rPr lang="en-US" b="true" sz="2199">
                <a:solidFill>
                  <a:srgbClr val="0C71A4"/>
                </a:solidFill>
                <a:latin typeface="Arimo Bold"/>
                <a:ea typeface="Arimo Bold"/>
                <a:cs typeface="Arimo Bold"/>
                <a:sym typeface="Arimo Bold"/>
              </a:rPr>
              <a:t>Indicates broad-spectrum pollution threats, from runoff to urbanization.</a:t>
            </a:r>
          </a:p>
          <a:p>
            <a:pPr algn="l">
              <a:lnSpc>
                <a:spcPts val="3499"/>
              </a:lnSpc>
            </a:pPr>
            <a:r>
              <a:rPr lang="en-US" sz="2499" b="true">
                <a:solidFill>
                  <a:srgbClr val="000000"/>
                </a:solidFill>
                <a:latin typeface="Arimo Bold"/>
                <a:ea typeface="Arimo Bold"/>
                <a:cs typeface="Arimo Bold"/>
                <a:sym typeface="Arimo Bold"/>
              </a:rPr>
              <a:t>Kerala</a:t>
            </a:r>
          </a:p>
          <a:p>
            <a:pPr algn="l" marL="949959" indent="-316653" lvl="2">
              <a:lnSpc>
                <a:spcPts val="3079"/>
              </a:lnSpc>
              <a:buFont typeface="Arial"/>
              <a:buChar char="⚬"/>
            </a:pPr>
            <a:r>
              <a:rPr lang="en-US" b="true" sz="2199">
                <a:solidFill>
                  <a:srgbClr val="0C71A4"/>
                </a:solidFill>
                <a:latin typeface="Arimo Bold"/>
                <a:ea typeface="Arimo Bold"/>
                <a:cs typeface="Arimo Bold"/>
                <a:sym typeface="Arimo Bold"/>
              </a:rPr>
              <a:t>Leads in illegal dumping with a significant 76 incidents  a major concern.</a:t>
            </a:r>
          </a:p>
          <a:p>
            <a:pPr algn="l" marL="949959" indent="-316653" lvl="2">
              <a:lnSpc>
                <a:spcPts val="3079"/>
              </a:lnSpc>
              <a:buFont typeface="Arial"/>
              <a:buChar char="⚬"/>
            </a:pPr>
            <a:r>
              <a:rPr lang="en-US" b="true" sz="2199">
                <a:solidFill>
                  <a:srgbClr val="0C71A4"/>
                </a:solidFill>
                <a:latin typeface="Arimo Bold"/>
                <a:ea typeface="Arimo Bold"/>
                <a:cs typeface="Arimo Bold"/>
                <a:sym typeface="Arimo Bold"/>
              </a:rPr>
              <a:t>Lower levels of deforestation and industrial waste (approximately 60 and 46) suggest challenges focused on waste management.</a:t>
            </a:r>
          </a:p>
          <a:p>
            <a:pPr algn="l">
              <a:lnSpc>
                <a:spcPts val="3499"/>
              </a:lnSpc>
            </a:pPr>
            <a:r>
              <a:rPr lang="en-US" sz="2499" b="true">
                <a:solidFill>
                  <a:srgbClr val="000000"/>
                </a:solidFill>
                <a:latin typeface="Arimo Bold"/>
                <a:ea typeface="Arimo Bold"/>
                <a:cs typeface="Arimo Bold"/>
                <a:sym typeface="Arimo Bold"/>
              </a:rPr>
              <a:t>Maharashtra</a:t>
            </a:r>
          </a:p>
          <a:p>
            <a:pPr algn="l" marL="949959" indent="-316653" lvl="2">
              <a:lnSpc>
                <a:spcPts val="3079"/>
              </a:lnSpc>
              <a:buFont typeface="Arial"/>
              <a:buChar char="⚬"/>
            </a:pPr>
            <a:r>
              <a:rPr lang="en-US" b="true" sz="2199">
                <a:solidFill>
                  <a:srgbClr val="0C71A4"/>
                </a:solidFill>
                <a:latin typeface="Arimo Bold"/>
                <a:ea typeface="Arimo Bold"/>
                <a:cs typeface="Arimo Bold"/>
                <a:sym typeface="Arimo Bold"/>
              </a:rPr>
              <a:t>Highest in agricultural runoff (78) and significant industrial waste (68).</a:t>
            </a:r>
          </a:p>
          <a:p>
            <a:pPr algn="l" marL="949959" indent="-316653" lvl="2">
              <a:lnSpc>
                <a:spcPts val="3079"/>
              </a:lnSpc>
              <a:buFont typeface="Arial"/>
              <a:buChar char="⚬"/>
            </a:pPr>
            <a:r>
              <a:rPr lang="en-US" b="true" sz="2199">
                <a:solidFill>
                  <a:srgbClr val="0C71A4"/>
                </a:solidFill>
                <a:latin typeface="Arimo Bold"/>
                <a:ea typeface="Arimo Bold"/>
                <a:cs typeface="Arimo Bold"/>
                <a:sym typeface="Arimo Bold"/>
              </a:rPr>
              <a:t>Consistent across all causes, indicating high levels of industrial and agricultural pollution.</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EDEFE1"/>
        </a:solidFill>
      </p:bgPr>
    </p:bg>
    <p:spTree>
      <p:nvGrpSpPr>
        <p:cNvPr id="1" name=""/>
        <p:cNvGrpSpPr/>
        <p:nvPr/>
      </p:nvGrpSpPr>
      <p:grpSpPr>
        <a:xfrm>
          <a:off x="0" y="0"/>
          <a:ext cx="0" cy="0"/>
          <a:chOff x="0" y="0"/>
          <a:chExt cx="0" cy="0"/>
        </a:xfrm>
      </p:grpSpPr>
      <p:sp>
        <p:nvSpPr>
          <p:cNvPr name="TextBox 2" id="2"/>
          <p:cNvSpPr txBox="true"/>
          <p:nvPr/>
        </p:nvSpPr>
        <p:spPr>
          <a:xfrm rot="0">
            <a:off x="876771" y="236603"/>
            <a:ext cx="16813755" cy="1027593"/>
          </a:xfrm>
          <a:prstGeom prst="rect">
            <a:avLst/>
          </a:prstGeom>
        </p:spPr>
        <p:txBody>
          <a:bodyPr anchor="t" rtlCol="false" tIns="0" lIns="0" bIns="0" rIns="0">
            <a:spAutoFit/>
          </a:bodyPr>
          <a:lstStyle/>
          <a:p>
            <a:pPr algn="l" marL="0" indent="0" lvl="0">
              <a:lnSpc>
                <a:spcPts val="8460"/>
              </a:lnSpc>
              <a:spcBef>
                <a:spcPct val="0"/>
              </a:spcBef>
            </a:pPr>
            <a:r>
              <a:rPr lang="en-US" b="true" sz="6043" i="true">
                <a:solidFill>
                  <a:srgbClr val="0A8472"/>
                </a:solidFill>
                <a:latin typeface="Cormorant Garamond Bold Italics"/>
                <a:ea typeface="Cormorant Garamond Bold Italics"/>
                <a:cs typeface="Cormorant Garamond Bold Italics"/>
                <a:sym typeface="Cormorant Garamond Bold Italics"/>
              </a:rPr>
              <a:t>State-wise Environmental Pressures by Pollution Type</a:t>
            </a:r>
          </a:p>
        </p:txBody>
      </p:sp>
      <p:sp>
        <p:nvSpPr>
          <p:cNvPr name="TextBox 3" id="3"/>
          <p:cNvSpPr txBox="true"/>
          <p:nvPr/>
        </p:nvSpPr>
        <p:spPr>
          <a:xfrm rot="0">
            <a:off x="1492045" y="1587939"/>
            <a:ext cx="16198480" cy="8145145"/>
          </a:xfrm>
          <a:prstGeom prst="rect">
            <a:avLst/>
          </a:prstGeom>
        </p:spPr>
        <p:txBody>
          <a:bodyPr anchor="t" rtlCol="false" tIns="0" lIns="0" bIns="0" rIns="0">
            <a:spAutoFit/>
          </a:bodyPr>
          <a:lstStyle/>
          <a:p>
            <a:pPr algn="l">
              <a:lnSpc>
                <a:spcPts val="3079"/>
              </a:lnSpc>
            </a:pPr>
          </a:p>
          <a:p>
            <a:pPr algn="l">
              <a:lnSpc>
                <a:spcPts val="3499"/>
              </a:lnSpc>
            </a:pPr>
            <a:r>
              <a:rPr lang="en-US" sz="2499" b="true">
                <a:solidFill>
                  <a:srgbClr val="000000"/>
                </a:solidFill>
                <a:latin typeface="Arimo Bold"/>
                <a:ea typeface="Arimo Bold"/>
                <a:cs typeface="Arimo Bold"/>
                <a:sym typeface="Arimo Bold"/>
              </a:rPr>
              <a:t>Odisha</a:t>
            </a:r>
          </a:p>
          <a:p>
            <a:pPr algn="l" marL="949952" indent="-316651" lvl="2">
              <a:lnSpc>
                <a:spcPts val="3079"/>
              </a:lnSpc>
              <a:buFont typeface="Arial"/>
              <a:buChar char="⚬"/>
            </a:pPr>
            <a:r>
              <a:rPr lang="en-US" b="true" sz="2199">
                <a:solidFill>
                  <a:srgbClr val="0C71A4"/>
                </a:solidFill>
                <a:latin typeface="Arimo Bold"/>
                <a:ea typeface="Arimo Bold"/>
                <a:cs typeface="Arimo Bold"/>
                <a:sym typeface="Arimo Bold"/>
              </a:rPr>
              <a:t>Tops the list for illegal dumping (81) and urban expansion (65).</a:t>
            </a:r>
          </a:p>
          <a:p>
            <a:pPr algn="l" marL="949952" indent="-316651" lvl="2">
              <a:lnSpc>
                <a:spcPts val="3079"/>
              </a:lnSpc>
              <a:buFont typeface="Arial"/>
              <a:buChar char="⚬"/>
            </a:pPr>
            <a:r>
              <a:rPr lang="en-US" b="true" sz="2199">
                <a:solidFill>
                  <a:srgbClr val="0C71A4"/>
                </a:solidFill>
                <a:latin typeface="Arimo Bold"/>
                <a:ea typeface="Arimo Bold"/>
                <a:cs typeface="Arimo Bold"/>
                <a:sym typeface="Arimo Bold"/>
              </a:rPr>
              <a:t>Relatively low in industrial waste (41), revealing unmanaged urban growth and waste as key threats.</a:t>
            </a:r>
          </a:p>
          <a:p>
            <a:pPr algn="l">
              <a:lnSpc>
                <a:spcPts val="3079"/>
              </a:lnSpc>
            </a:pPr>
          </a:p>
          <a:p>
            <a:pPr algn="l">
              <a:lnSpc>
                <a:spcPts val="3499"/>
              </a:lnSpc>
            </a:pPr>
            <a:r>
              <a:rPr lang="en-US" sz="2499" b="true">
                <a:solidFill>
                  <a:srgbClr val="000000"/>
                </a:solidFill>
                <a:latin typeface="Arimo Bold"/>
                <a:ea typeface="Arimo Bold"/>
                <a:cs typeface="Arimo Bold"/>
                <a:sym typeface="Arimo Bold"/>
              </a:rPr>
              <a:t>Punjab</a:t>
            </a:r>
          </a:p>
          <a:p>
            <a:pPr algn="l" marL="949952" indent="-316651" lvl="2">
              <a:lnSpc>
                <a:spcPts val="3079"/>
              </a:lnSpc>
              <a:buFont typeface="Arial"/>
              <a:buChar char="⚬"/>
            </a:pPr>
            <a:r>
              <a:rPr lang="en-US" b="true" sz="2199">
                <a:solidFill>
                  <a:srgbClr val="0C71A4"/>
                </a:solidFill>
                <a:latin typeface="Arimo Bold"/>
                <a:ea typeface="Arimo Bold"/>
                <a:cs typeface="Arimo Bold"/>
                <a:sym typeface="Arimo Bold"/>
              </a:rPr>
              <a:t>Lacks extreme values, but all causes hover around 59 to 63.</a:t>
            </a:r>
          </a:p>
          <a:p>
            <a:pPr algn="l" marL="949952" indent="-316651" lvl="2">
              <a:lnSpc>
                <a:spcPts val="3079"/>
              </a:lnSpc>
              <a:buFont typeface="Arial"/>
              <a:buChar char="⚬"/>
            </a:pPr>
            <a:r>
              <a:rPr lang="en-US" b="true" sz="2199">
                <a:solidFill>
                  <a:srgbClr val="0C71A4"/>
                </a:solidFill>
                <a:latin typeface="Arimo Bold"/>
                <a:ea typeface="Arimo Bold"/>
                <a:cs typeface="Arimo Bold"/>
                <a:sym typeface="Arimo Bold"/>
              </a:rPr>
              <a:t>Reflects a consistent, medium-level environmental strain.</a:t>
            </a:r>
          </a:p>
          <a:p>
            <a:pPr algn="l">
              <a:lnSpc>
                <a:spcPts val="3079"/>
              </a:lnSpc>
            </a:pPr>
          </a:p>
          <a:p>
            <a:pPr algn="l">
              <a:lnSpc>
                <a:spcPts val="3499"/>
              </a:lnSpc>
            </a:pPr>
            <a:r>
              <a:rPr lang="en-US" sz="2499" b="true">
                <a:solidFill>
                  <a:srgbClr val="000000"/>
                </a:solidFill>
                <a:latin typeface="Arimo Bold"/>
                <a:ea typeface="Arimo Bold"/>
                <a:cs typeface="Arimo Bold"/>
                <a:sym typeface="Arimo Bold"/>
              </a:rPr>
              <a:t>Tamil Nadu</a:t>
            </a:r>
          </a:p>
          <a:p>
            <a:pPr algn="l" marL="949952" indent="-316651" lvl="2">
              <a:lnSpc>
                <a:spcPts val="3079"/>
              </a:lnSpc>
              <a:buFont typeface="Arial"/>
              <a:buChar char="⚬"/>
            </a:pPr>
            <a:r>
              <a:rPr lang="en-US" b="true" sz="2199">
                <a:solidFill>
                  <a:srgbClr val="0C71A4"/>
                </a:solidFill>
                <a:latin typeface="Arimo Bold"/>
                <a:ea typeface="Arimo Bold"/>
                <a:cs typeface="Arimo Bold"/>
                <a:sym typeface="Arimo Bold"/>
              </a:rPr>
              <a:t>Displays balanced environmental pressure across all causes (approximately 60 each).</a:t>
            </a:r>
          </a:p>
          <a:p>
            <a:pPr algn="l" marL="949952" indent="-316651" lvl="2">
              <a:lnSpc>
                <a:spcPts val="3079"/>
              </a:lnSpc>
              <a:buFont typeface="Arial"/>
              <a:buChar char="⚬"/>
            </a:pPr>
            <a:r>
              <a:rPr lang="en-US" b="true" sz="2199">
                <a:solidFill>
                  <a:srgbClr val="0C71A4"/>
                </a:solidFill>
                <a:latin typeface="Arimo Bold"/>
                <a:ea typeface="Arimo Bold"/>
                <a:cs typeface="Arimo Bold"/>
                <a:sym typeface="Arimo Bold"/>
              </a:rPr>
              <a:t>No outlier incidents, but steady risks of degradation.</a:t>
            </a:r>
          </a:p>
          <a:p>
            <a:pPr algn="l">
              <a:lnSpc>
                <a:spcPts val="3499"/>
              </a:lnSpc>
            </a:pPr>
          </a:p>
          <a:p>
            <a:pPr algn="l">
              <a:lnSpc>
                <a:spcPts val="3499"/>
              </a:lnSpc>
            </a:pPr>
            <a:r>
              <a:rPr lang="en-US" sz="2499" b="true">
                <a:solidFill>
                  <a:srgbClr val="000000"/>
                </a:solidFill>
                <a:latin typeface="Arimo Bold"/>
                <a:ea typeface="Arimo Bold"/>
                <a:cs typeface="Arimo Bold"/>
                <a:sym typeface="Arimo Bold"/>
              </a:rPr>
              <a:t>Uttar Pradesh</a:t>
            </a:r>
          </a:p>
          <a:p>
            <a:pPr algn="l" marL="949952" indent="-316651" lvl="2">
              <a:lnSpc>
                <a:spcPts val="3079"/>
              </a:lnSpc>
              <a:buFont typeface="Arial"/>
              <a:buChar char="⚬"/>
            </a:pPr>
            <a:r>
              <a:rPr lang="en-US" b="true" sz="2199">
                <a:solidFill>
                  <a:srgbClr val="0C71A4"/>
                </a:solidFill>
                <a:latin typeface="Arimo Bold"/>
                <a:ea typeface="Arimo Bold"/>
                <a:cs typeface="Arimo Bold"/>
                <a:sym typeface="Arimo Bold"/>
              </a:rPr>
              <a:t>Lower incidents in agricultural runoff and illegal dumping (52 each).</a:t>
            </a:r>
          </a:p>
          <a:p>
            <a:pPr algn="l" marL="949952" indent="-316651" lvl="2">
              <a:lnSpc>
                <a:spcPts val="3079"/>
              </a:lnSpc>
              <a:buFont typeface="Arial"/>
              <a:buChar char="⚬"/>
            </a:pPr>
            <a:r>
              <a:rPr lang="en-US" b="true" sz="2199">
                <a:solidFill>
                  <a:srgbClr val="0C71A4"/>
                </a:solidFill>
                <a:latin typeface="Arimo Bold"/>
                <a:ea typeface="Arimo Bold"/>
                <a:cs typeface="Arimo Bold"/>
                <a:sym typeface="Arimo Bold"/>
              </a:rPr>
              <a:t>Fairly consistent across other categories, likely due to mixed land use and the urban-rural divide.</a:t>
            </a:r>
          </a:p>
          <a:p>
            <a:pPr algn="l">
              <a:lnSpc>
                <a:spcPts val="3499"/>
              </a:lnSpc>
            </a:pPr>
          </a:p>
          <a:p>
            <a:pPr algn="l">
              <a:lnSpc>
                <a:spcPts val="3499"/>
              </a:lnSpc>
            </a:pPr>
            <a:r>
              <a:rPr lang="en-US" sz="2499" b="true">
                <a:solidFill>
                  <a:srgbClr val="000000"/>
                </a:solidFill>
                <a:latin typeface="Arimo Bold"/>
                <a:ea typeface="Arimo Bold"/>
                <a:cs typeface="Arimo Bold"/>
                <a:sym typeface="Arimo Bold"/>
              </a:rPr>
              <a:t>West Bengal</a:t>
            </a:r>
          </a:p>
          <a:p>
            <a:pPr algn="l" marL="949952" indent="-316651" lvl="2">
              <a:lnSpc>
                <a:spcPts val="3079"/>
              </a:lnSpc>
              <a:buFont typeface="Arial"/>
              <a:buChar char="⚬"/>
            </a:pPr>
            <a:r>
              <a:rPr lang="en-US" b="true" sz="2199">
                <a:solidFill>
                  <a:srgbClr val="0C71A4"/>
                </a:solidFill>
                <a:latin typeface="Arimo Bold"/>
                <a:ea typeface="Arimo Bold"/>
                <a:cs typeface="Arimo Bold"/>
                <a:sym typeface="Arimo Bold"/>
              </a:rPr>
              <a:t>High levels of industrial waste (75) emerge as a standout issue.</a:t>
            </a:r>
          </a:p>
          <a:p>
            <a:pPr algn="l" marL="949952" indent="-316651" lvl="2">
              <a:lnSpc>
                <a:spcPts val="3079"/>
              </a:lnSpc>
              <a:buFont typeface="Arial"/>
              <a:buChar char="⚬"/>
            </a:pPr>
            <a:r>
              <a:rPr lang="en-US" b="true" sz="2199">
                <a:solidFill>
                  <a:srgbClr val="0C71A4"/>
                </a:solidFill>
                <a:latin typeface="Arimo Bold"/>
                <a:ea typeface="Arimo Bold"/>
                <a:cs typeface="Arimo Bold"/>
                <a:sym typeface="Arimo Bold"/>
              </a:rPr>
              <a:t>Relatively lower in other causes, likely driven by industrial pollution.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DEFE1"/>
        </a:solidFill>
      </p:bgPr>
    </p:bg>
    <p:spTree>
      <p:nvGrpSpPr>
        <p:cNvPr id="1" name=""/>
        <p:cNvGrpSpPr/>
        <p:nvPr/>
      </p:nvGrpSpPr>
      <p:grpSpPr>
        <a:xfrm>
          <a:off x="0" y="0"/>
          <a:ext cx="0" cy="0"/>
          <a:chOff x="0" y="0"/>
          <a:chExt cx="0" cy="0"/>
        </a:xfrm>
      </p:grpSpPr>
      <p:sp>
        <p:nvSpPr>
          <p:cNvPr name="Freeform 2" id="2"/>
          <p:cNvSpPr/>
          <p:nvPr/>
        </p:nvSpPr>
        <p:spPr>
          <a:xfrm flipH="false" flipV="false" rot="0">
            <a:off x="1765958" y="3366628"/>
            <a:ext cx="6601694" cy="5332755"/>
          </a:xfrm>
          <a:custGeom>
            <a:avLst/>
            <a:gdLst/>
            <a:ahLst/>
            <a:cxnLst/>
            <a:rect r="r" b="b" t="t" l="l"/>
            <a:pathLst>
              <a:path h="5332755" w="6601694">
                <a:moveTo>
                  <a:pt x="0" y="0"/>
                </a:moveTo>
                <a:lnTo>
                  <a:pt x="6601694" y="0"/>
                </a:lnTo>
                <a:lnTo>
                  <a:pt x="6601694" y="5332756"/>
                </a:lnTo>
                <a:lnTo>
                  <a:pt x="0" y="5332756"/>
                </a:lnTo>
                <a:lnTo>
                  <a:pt x="0" y="0"/>
                </a:lnTo>
                <a:close/>
              </a:path>
            </a:pathLst>
          </a:custGeom>
          <a:blipFill>
            <a:blip r:embed="rId2"/>
            <a:stretch>
              <a:fillRect l="0" t="0" r="0" b="0"/>
            </a:stretch>
          </a:blipFill>
          <a:ln w="38100" cap="sq">
            <a:solidFill>
              <a:srgbClr val="A56054"/>
            </a:solidFill>
            <a:prstDash val="solid"/>
            <a:miter/>
          </a:ln>
        </p:spPr>
      </p:sp>
      <p:sp>
        <p:nvSpPr>
          <p:cNvPr name="TextBox 3" id="3"/>
          <p:cNvSpPr txBox="true"/>
          <p:nvPr/>
        </p:nvSpPr>
        <p:spPr>
          <a:xfrm rot="0">
            <a:off x="9144000" y="1752168"/>
            <a:ext cx="8115300" cy="8308976"/>
          </a:xfrm>
          <a:prstGeom prst="rect">
            <a:avLst/>
          </a:prstGeom>
        </p:spPr>
        <p:txBody>
          <a:bodyPr anchor="t" rtlCol="false" tIns="0" lIns="0" bIns="0" rIns="0">
            <a:spAutoFit/>
          </a:bodyPr>
          <a:lstStyle/>
          <a:p>
            <a:pPr algn="l" marL="539745" indent="-269872" lvl="1">
              <a:lnSpc>
                <a:spcPts val="3499"/>
              </a:lnSpc>
              <a:buFont typeface="Arial"/>
              <a:buChar char="•"/>
            </a:pPr>
            <a:r>
              <a:rPr lang="en-US" b="true" sz="2499">
                <a:solidFill>
                  <a:srgbClr val="000000"/>
                </a:solidFill>
                <a:latin typeface="Quicksand Bold"/>
                <a:ea typeface="Quicksand Bold"/>
                <a:cs typeface="Quicksand Bold"/>
                <a:sym typeface="Quicksand Bold"/>
              </a:rPr>
              <a:t>Tamil Nadu</a:t>
            </a:r>
            <a:r>
              <a:rPr lang="en-US" b="true" sz="2499">
                <a:solidFill>
                  <a:srgbClr val="0C71A4"/>
                </a:solidFill>
                <a:latin typeface="Quicksand Bold"/>
                <a:ea typeface="Quicksand Bold"/>
                <a:cs typeface="Quicksand Bold"/>
                <a:sym typeface="Quicksand Bold"/>
              </a:rPr>
              <a:t> has the highest water pollution (94) — needs urgent intervention in water quality.</a:t>
            </a:r>
          </a:p>
          <a:p>
            <a:pPr algn="l">
              <a:lnSpc>
                <a:spcPts val="3499"/>
              </a:lnSpc>
            </a:pPr>
          </a:p>
          <a:p>
            <a:pPr algn="l" marL="539745" indent="-269872" lvl="1">
              <a:lnSpc>
                <a:spcPts val="3499"/>
              </a:lnSpc>
              <a:buFont typeface="Arial"/>
              <a:buChar char="•"/>
            </a:pPr>
            <a:r>
              <a:rPr lang="en-US" b="true" sz="2499">
                <a:solidFill>
                  <a:srgbClr val="000000"/>
                </a:solidFill>
                <a:latin typeface="Quicksand Bold"/>
                <a:ea typeface="Quicksand Bold"/>
                <a:cs typeface="Quicksand Bold"/>
                <a:sym typeface="Quicksand Bold"/>
              </a:rPr>
              <a:t>Maharashtra</a:t>
            </a:r>
            <a:r>
              <a:rPr lang="en-US" b="true" sz="2499">
                <a:solidFill>
                  <a:srgbClr val="0C71A4"/>
                </a:solidFill>
                <a:latin typeface="Quicksand Bold"/>
                <a:ea typeface="Quicksand Bold"/>
                <a:cs typeface="Quicksand Bold"/>
                <a:sym typeface="Quicksand Bold"/>
              </a:rPr>
              <a:t> shows high levels across all pollution types (75–82)  indicating overall environmental pressure.</a:t>
            </a:r>
          </a:p>
          <a:p>
            <a:pPr algn="l">
              <a:lnSpc>
                <a:spcPts val="3499"/>
              </a:lnSpc>
            </a:pPr>
          </a:p>
          <a:p>
            <a:pPr algn="l" marL="539745" indent="-269872" lvl="1">
              <a:lnSpc>
                <a:spcPts val="3499"/>
              </a:lnSpc>
              <a:buFont typeface="Arial"/>
              <a:buChar char="•"/>
            </a:pPr>
            <a:r>
              <a:rPr lang="en-US" b="true" sz="2499">
                <a:solidFill>
                  <a:srgbClr val="000000"/>
                </a:solidFill>
                <a:latin typeface="Quicksand Bold"/>
                <a:ea typeface="Quicksand Bold"/>
                <a:cs typeface="Quicksand Bold"/>
                <a:sym typeface="Quicksand Bold"/>
              </a:rPr>
              <a:t>Odisha and Bihar</a:t>
            </a:r>
            <a:r>
              <a:rPr lang="en-US" b="true" sz="2499">
                <a:solidFill>
                  <a:srgbClr val="0C71A4"/>
                </a:solidFill>
                <a:latin typeface="Quicksand Bold"/>
                <a:ea typeface="Quicksand Bold"/>
                <a:cs typeface="Quicksand Bold"/>
                <a:sym typeface="Quicksand Bold"/>
              </a:rPr>
              <a:t> show consistently high air and water pollution (75+), hinting at industrial and agricultural pollutants.</a:t>
            </a:r>
          </a:p>
          <a:p>
            <a:pPr algn="l">
              <a:lnSpc>
                <a:spcPts val="3499"/>
              </a:lnSpc>
            </a:pPr>
          </a:p>
          <a:p>
            <a:pPr algn="l" marL="539745" indent="-269872" lvl="1">
              <a:lnSpc>
                <a:spcPts val="3499"/>
              </a:lnSpc>
              <a:buFont typeface="Arial"/>
              <a:buChar char="•"/>
            </a:pPr>
            <a:r>
              <a:rPr lang="en-US" b="true" sz="2499">
                <a:solidFill>
                  <a:srgbClr val="000000"/>
                </a:solidFill>
                <a:latin typeface="Quicksand Bold"/>
                <a:ea typeface="Quicksand Bold"/>
                <a:cs typeface="Quicksand Bold"/>
                <a:sym typeface="Quicksand Bold"/>
              </a:rPr>
              <a:t>Karnataka </a:t>
            </a:r>
            <a:r>
              <a:rPr lang="en-US" b="true" sz="2499">
                <a:solidFill>
                  <a:srgbClr val="0C71A4"/>
                </a:solidFill>
                <a:latin typeface="Quicksand Bold"/>
                <a:ea typeface="Quicksand Bold"/>
                <a:cs typeface="Quicksand Bold"/>
                <a:sym typeface="Quicksand Bold"/>
              </a:rPr>
              <a:t>has highest soil pollution (87) and second-highest water pollution (88) possible links to waste mismanagement and runoff.</a:t>
            </a:r>
          </a:p>
          <a:p>
            <a:pPr algn="l">
              <a:lnSpc>
                <a:spcPts val="3499"/>
              </a:lnSpc>
            </a:pPr>
          </a:p>
          <a:p>
            <a:pPr algn="l" marL="539745" indent="-269872" lvl="1">
              <a:lnSpc>
                <a:spcPts val="3499"/>
              </a:lnSpc>
              <a:buFont typeface="Arial"/>
              <a:buChar char="•"/>
            </a:pPr>
            <a:r>
              <a:rPr lang="en-US" b="true" sz="2499">
                <a:solidFill>
                  <a:srgbClr val="000000"/>
                </a:solidFill>
                <a:latin typeface="Quicksand Bold"/>
                <a:ea typeface="Quicksand Bold"/>
                <a:cs typeface="Quicksand Bold"/>
                <a:sym typeface="Quicksand Bold"/>
              </a:rPr>
              <a:t>Punjab</a:t>
            </a:r>
            <a:r>
              <a:rPr lang="en-US" b="true" sz="2499">
                <a:solidFill>
                  <a:srgbClr val="0C71A4"/>
                </a:solidFill>
                <a:latin typeface="Quicksand Bold"/>
                <a:ea typeface="Quicksand Bold"/>
                <a:cs typeface="Quicksand Bold"/>
                <a:sym typeface="Quicksand Bold"/>
              </a:rPr>
              <a:t> has high mixed pollution (78) and water pollution (81)  may be due to combined effects of agriculture and urban discharge.</a:t>
            </a:r>
          </a:p>
          <a:p>
            <a:pPr algn="l">
              <a:lnSpc>
                <a:spcPts val="3499"/>
              </a:lnSpc>
            </a:pPr>
          </a:p>
        </p:txBody>
      </p:sp>
      <p:sp>
        <p:nvSpPr>
          <p:cNvPr name="TextBox 4" id="4"/>
          <p:cNvSpPr txBox="true"/>
          <p:nvPr/>
        </p:nvSpPr>
        <p:spPr>
          <a:xfrm rot="0">
            <a:off x="876771" y="236603"/>
            <a:ext cx="16813755" cy="1027593"/>
          </a:xfrm>
          <a:prstGeom prst="rect">
            <a:avLst/>
          </a:prstGeom>
        </p:spPr>
        <p:txBody>
          <a:bodyPr anchor="t" rtlCol="false" tIns="0" lIns="0" bIns="0" rIns="0">
            <a:spAutoFit/>
          </a:bodyPr>
          <a:lstStyle/>
          <a:p>
            <a:pPr algn="l" marL="0" indent="0" lvl="0">
              <a:lnSpc>
                <a:spcPts val="8460"/>
              </a:lnSpc>
              <a:spcBef>
                <a:spcPct val="0"/>
              </a:spcBef>
            </a:pPr>
            <a:r>
              <a:rPr lang="en-US" b="true" sz="6043" i="true">
                <a:solidFill>
                  <a:srgbClr val="0A8472"/>
                </a:solidFill>
                <a:latin typeface="Cormorant Garamond Bold Italics"/>
                <a:ea typeface="Cormorant Garamond Bold Italics"/>
                <a:cs typeface="Cormorant Garamond Bold Italics"/>
                <a:sym typeface="Cormorant Garamond Bold Italics"/>
              </a:rPr>
              <a:t>State-wise Pollution Incidents by Pollution Type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DEFE1"/>
        </a:solidFill>
      </p:bgPr>
    </p:bg>
    <p:spTree>
      <p:nvGrpSpPr>
        <p:cNvPr id="1" name=""/>
        <p:cNvGrpSpPr/>
        <p:nvPr/>
      </p:nvGrpSpPr>
      <p:grpSpPr>
        <a:xfrm>
          <a:off x="0" y="0"/>
          <a:ext cx="0" cy="0"/>
          <a:chOff x="0" y="0"/>
          <a:chExt cx="0" cy="0"/>
        </a:xfrm>
      </p:grpSpPr>
      <p:sp>
        <p:nvSpPr>
          <p:cNvPr name="Freeform 2" id="2"/>
          <p:cNvSpPr/>
          <p:nvPr/>
        </p:nvSpPr>
        <p:spPr>
          <a:xfrm flipH="false" flipV="false" rot="0">
            <a:off x="1500848" y="3341470"/>
            <a:ext cx="8567966" cy="5378094"/>
          </a:xfrm>
          <a:custGeom>
            <a:avLst/>
            <a:gdLst/>
            <a:ahLst/>
            <a:cxnLst/>
            <a:rect r="r" b="b" t="t" l="l"/>
            <a:pathLst>
              <a:path h="5378094" w="8567966">
                <a:moveTo>
                  <a:pt x="0" y="0"/>
                </a:moveTo>
                <a:lnTo>
                  <a:pt x="8567966" y="0"/>
                </a:lnTo>
                <a:lnTo>
                  <a:pt x="8567966" y="5378093"/>
                </a:lnTo>
                <a:lnTo>
                  <a:pt x="0" y="5378093"/>
                </a:lnTo>
                <a:lnTo>
                  <a:pt x="0" y="0"/>
                </a:lnTo>
                <a:close/>
              </a:path>
            </a:pathLst>
          </a:custGeom>
          <a:blipFill>
            <a:blip r:embed="rId2"/>
            <a:stretch>
              <a:fillRect l="0" t="0" r="0" b="0"/>
            </a:stretch>
          </a:blipFill>
          <a:ln w="38100" cap="sq">
            <a:solidFill>
              <a:srgbClr val="A56054"/>
            </a:solidFill>
            <a:prstDash val="solid"/>
            <a:miter/>
          </a:ln>
        </p:spPr>
      </p:sp>
      <p:sp>
        <p:nvSpPr>
          <p:cNvPr name="TextBox 3" id="3"/>
          <p:cNvSpPr txBox="true"/>
          <p:nvPr/>
        </p:nvSpPr>
        <p:spPr>
          <a:xfrm rot="0">
            <a:off x="10353347" y="1707962"/>
            <a:ext cx="7337178" cy="8378191"/>
          </a:xfrm>
          <a:prstGeom prst="rect">
            <a:avLst/>
          </a:prstGeom>
        </p:spPr>
        <p:txBody>
          <a:bodyPr anchor="t" rtlCol="false" tIns="0" lIns="0" bIns="0" rIns="0">
            <a:spAutoFit/>
          </a:bodyPr>
          <a:lstStyle/>
          <a:p>
            <a:pPr algn="l" marL="518155" indent="-259078" lvl="1">
              <a:lnSpc>
                <a:spcPts val="3359"/>
              </a:lnSpc>
              <a:buFont typeface="Arial"/>
              <a:buChar char="•"/>
            </a:pPr>
            <a:r>
              <a:rPr lang="en-US" b="true" sz="2399">
                <a:solidFill>
                  <a:srgbClr val="000000"/>
                </a:solidFill>
                <a:latin typeface="Quicksand Bold"/>
                <a:ea typeface="Quicksand Bold"/>
                <a:cs typeface="Quicksand Bold"/>
                <a:sym typeface="Quicksand Bold"/>
              </a:rPr>
              <a:t>Punjab</a:t>
            </a:r>
            <a:r>
              <a:rPr lang="en-US" b="true" sz="2399">
                <a:solidFill>
                  <a:srgbClr val="0C71A4"/>
                </a:solidFill>
                <a:latin typeface="Quicksand Bold"/>
                <a:ea typeface="Quicksand Bold"/>
                <a:cs typeface="Quicksand Bold"/>
                <a:sym typeface="Quicksand Bold"/>
              </a:rPr>
              <a:t> (95.45 days) has the slowest average response, followed by Kerala (93.49) and Odisha (91.87) — may indicate bureaucratic delays or capacity issues.</a:t>
            </a:r>
          </a:p>
          <a:p>
            <a:pPr algn="l">
              <a:lnSpc>
                <a:spcPts val="3359"/>
              </a:lnSpc>
            </a:pPr>
          </a:p>
          <a:p>
            <a:pPr algn="l" marL="518155" indent="-259078" lvl="1">
              <a:lnSpc>
                <a:spcPts val="3359"/>
              </a:lnSpc>
              <a:buFont typeface="Arial"/>
              <a:buChar char="•"/>
            </a:pPr>
            <a:r>
              <a:rPr lang="en-US" b="true" sz="2399">
                <a:solidFill>
                  <a:srgbClr val="000000"/>
                </a:solidFill>
                <a:latin typeface="Quicksand Bold"/>
                <a:ea typeface="Quicksand Bold"/>
                <a:cs typeface="Quicksand Bold"/>
                <a:sym typeface="Quicksand Bold"/>
              </a:rPr>
              <a:t>Maharashtra </a:t>
            </a:r>
            <a:r>
              <a:rPr lang="en-US" b="true" sz="2399">
                <a:solidFill>
                  <a:srgbClr val="0C71A4"/>
                </a:solidFill>
                <a:latin typeface="Quicksand Bold"/>
                <a:ea typeface="Quicksand Bold"/>
                <a:cs typeface="Quicksand Bold"/>
                <a:sym typeface="Quicksand Bold"/>
              </a:rPr>
              <a:t>(86.61) and </a:t>
            </a:r>
            <a:r>
              <a:rPr lang="en-US" b="true" sz="2399">
                <a:solidFill>
                  <a:srgbClr val="000000"/>
                </a:solidFill>
                <a:latin typeface="Quicksand Bold"/>
                <a:ea typeface="Quicksand Bold"/>
                <a:cs typeface="Quicksand Bold"/>
                <a:sym typeface="Quicksand Bold"/>
              </a:rPr>
              <a:t>Bihar</a:t>
            </a:r>
            <a:r>
              <a:rPr lang="en-US" b="true" sz="2399">
                <a:solidFill>
                  <a:srgbClr val="0C71A4"/>
                </a:solidFill>
                <a:latin typeface="Quicksand Bold"/>
                <a:ea typeface="Quicksand Bold"/>
                <a:cs typeface="Quicksand Bold"/>
                <a:sym typeface="Quicksand Bold"/>
              </a:rPr>
              <a:t> (87.02) have the fastest average response times, possibly due to better coordination or more frequent handling of cases.</a:t>
            </a:r>
          </a:p>
          <a:p>
            <a:pPr algn="l">
              <a:lnSpc>
                <a:spcPts val="3359"/>
              </a:lnSpc>
            </a:pPr>
          </a:p>
          <a:p>
            <a:pPr algn="l" marL="518155" indent="-259078" lvl="1">
              <a:lnSpc>
                <a:spcPts val="3359"/>
              </a:lnSpc>
              <a:buFont typeface="Arial"/>
              <a:buChar char="•"/>
            </a:pPr>
            <a:r>
              <a:rPr lang="en-US" b="true" sz="2399">
                <a:solidFill>
                  <a:srgbClr val="0C71A4"/>
                </a:solidFill>
                <a:latin typeface="Quicksand Bold"/>
                <a:ea typeface="Quicksand Bold"/>
                <a:cs typeface="Quicksand Bold"/>
                <a:sym typeface="Quicksand Bold"/>
              </a:rPr>
              <a:t>Most states fall in a narrow range (86–95 days), suggesting a systemic delay in environmental action.</a:t>
            </a:r>
          </a:p>
          <a:p>
            <a:pPr algn="l">
              <a:lnSpc>
                <a:spcPts val="3359"/>
              </a:lnSpc>
            </a:pPr>
          </a:p>
          <a:p>
            <a:pPr algn="l">
              <a:lnSpc>
                <a:spcPts val="3359"/>
              </a:lnSpc>
            </a:pPr>
            <a:r>
              <a:rPr lang="en-US" sz="2399" b="true">
                <a:solidFill>
                  <a:srgbClr val="0C71A4"/>
                </a:solidFill>
                <a:latin typeface="Quicksand Bold"/>
                <a:ea typeface="Quicksand Bold"/>
                <a:cs typeface="Quicksand Bold"/>
                <a:sym typeface="Quicksand Bold"/>
              </a:rPr>
              <a:t>Government response to pollution incidents takes nearly 3 months on average across states with Punjab and Kerala facing the most delay. Faster response mechanisms are critical for mitigation and recovery.</a:t>
            </a:r>
          </a:p>
          <a:p>
            <a:pPr algn="l">
              <a:lnSpc>
                <a:spcPts val="3359"/>
              </a:lnSpc>
            </a:pPr>
          </a:p>
        </p:txBody>
      </p:sp>
      <p:sp>
        <p:nvSpPr>
          <p:cNvPr name="TextBox 4" id="4"/>
          <p:cNvSpPr txBox="true"/>
          <p:nvPr/>
        </p:nvSpPr>
        <p:spPr>
          <a:xfrm rot="0">
            <a:off x="876771" y="236603"/>
            <a:ext cx="16813755" cy="1027593"/>
          </a:xfrm>
          <a:prstGeom prst="rect">
            <a:avLst/>
          </a:prstGeom>
        </p:spPr>
        <p:txBody>
          <a:bodyPr anchor="t" rtlCol="false" tIns="0" lIns="0" bIns="0" rIns="0">
            <a:spAutoFit/>
          </a:bodyPr>
          <a:lstStyle/>
          <a:p>
            <a:pPr algn="l" marL="0" indent="0" lvl="0">
              <a:lnSpc>
                <a:spcPts val="8460"/>
              </a:lnSpc>
              <a:spcBef>
                <a:spcPct val="0"/>
              </a:spcBef>
            </a:pPr>
            <a:r>
              <a:rPr lang="en-US" b="true" sz="6043" i="true">
                <a:solidFill>
                  <a:srgbClr val="0F4662"/>
                </a:solidFill>
                <a:latin typeface="Cormorant Garamond Bold Italics"/>
                <a:ea typeface="Cormorant Garamond Bold Italics"/>
                <a:cs typeface="Cormorant Garamond Bold Italics"/>
                <a:sym typeface="Cormorant Garamond Bold Italics"/>
              </a:rPr>
              <a:t>State-wise Pollution Incidents by Pollution Type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DEFE1"/>
        </a:solidFill>
      </p:bgPr>
    </p:bg>
    <p:spTree>
      <p:nvGrpSpPr>
        <p:cNvPr id="1" name=""/>
        <p:cNvGrpSpPr/>
        <p:nvPr/>
      </p:nvGrpSpPr>
      <p:grpSpPr>
        <a:xfrm>
          <a:off x="0" y="0"/>
          <a:ext cx="0" cy="0"/>
          <a:chOff x="0" y="0"/>
          <a:chExt cx="0" cy="0"/>
        </a:xfrm>
      </p:grpSpPr>
      <p:sp>
        <p:nvSpPr>
          <p:cNvPr name="Freeform 2" id="2"/>
          <p:cNvSpPr/>
          <p:nvPr/>
        </p:nvSpPr>
        <p:spPr>
          <a:xfrm flipH="false" flipV="false" rot="0">
            <a:off x="876771" y="2337297"/>
            <a:ext cx="7471128" cy="5399175"/>
          </a:xfrm>
          <a:custGeom>
            <a:avLst/>
            <a:gdLst/>
            <a:ahLst/>
            <a:cxnLst/>
            <a:rect r="r" b="b" t="t" l="l"/>
            <a:pathLst>
              <a:path h="5399175" w="7471128">
                <a:moveTo>
                  <a:pt x="0" y="0"/>
                </a:moveTo>
                <a:lnTo>
                  <a:pt x="7471127" y="0"/>
                </a:lnTo>
                <a:lnTo>
                  <a:pt x="7471127" y="5399176"/>
                </a:lnTo>
                <a:lnTo>
                  <a:pt x="0" y="5399176"/>
                </a:lnTo>
                <a:lnTo>
                  <a:pt x="0" y="0"/>
                </a:lnTo>
                <a:close/>
              </a:path>
            </a:pathLst>
          </a:custGeom>
          <a:blipFill>
            <a:blip r:embed="rId2"/>
            <a:stretch>
              <a:fillRect l="0" t="0" r="0" b="0"/>
            </a:stretch>
          </a:blipFill>
          <a:ln w="38100" cap="sq">
            <a:solidFill>
              <a:srgbClr val="A56054"/>
            </a:solidFill>
            <a:prstDash val="solid"/>
            <a:miter/>
          </a:ln>
        </p:spPr>
      </p:sp>
      <p:sp>
        <p:nvSpPr>
          <p:cNvPr name="TextBox 3" id="3"/>
          <p:cNvSpPr txBox="true"/>
          <p:nvPr/>
        </p:nvSpPr>
        <p:spPr>
          <a:xfrm rot="0">
            <a:off x="9283648" y="1791071"/>
            <a:ext cx="7337178" cy="6994526"/>
          </a:xfrm>
          <a:prstGeom prst="rect">
            <a:avLst/>
          </a:prstGeom>
        </p:spPr>
        <p:txBody>
          <a:bodyPr anchor="t" rtlCol="false" tIns="0" lIns="0" bIns="0" rIns="0">
            <a:spAutoFit/>
          </a:bodyPr>
          <a:lstStyle/>
          <a:p>
            <a:pPr algn="l" marL="539745" indent="-269872" lvl="1">
              <a:lnSpc>
                <a:spcPts val="3499"/>
              </a:lnSpc>
              <a:buFont typeface="Arial"/>
              <a:buChar char="•"/>
            </a:pPr>
            <a:r>
              <a:rPr lang="en-US" b="true" sz="2499">
                <a:solidFill>
                  <a:srgbClr val="000000"/>
                </a:solidFill>
                <a:latin typeface="Quicksand Bold"/>
                <a:ea typeface="Quicksand Bold"/>
                <a:cs typeface="Quicksand Bold"/>
                <a:sym typeface="Quicksand Bold"/>
              </a:rPr>
              <a:t>Agricultural Runoff</a:t>
            </a:r>
            <a:r>
              <a:rPr lang="en-US" b="true" sz="2499">
                <a:solidFill>
                  <a:srgbClr val="0C71A4"/>
                </a:solidFill>
                <a:latin typeface="Quicksand Bold"/>
                <a:ea typeface="Quicksand Bold"/>
                <a:cs typeface="Quicksand Bold"/>
                <a:sym typeface="Quicksand Bold"/>
              </a:rPr>
              <a:t> caused river pollution in ~55% of incidents (332 out of 605)  the highest proportion among all causes.</a:t>
            </a:r>
          </a:p>
          <a:p>
            <a:pPr algn="l">
              <a:lnSpc>
                <a:spcPts val="3499"/>
              </a:lnSpc>
            </a:pPr>
          </a:p>
          <a:p>
            <a:pPr algn="l" marL="539745" indent="-269872" lvl="1">
              <a:lnSpc>
                <a:spcPts val="3499"/>
              </a:lnSpc>
              <a:buFont typeface="Arial"/>
              <a:buChar char="•"/>
            </a:pPr>
            <a:r>
              <a:rPr lang="en-US" b="true" sz="2499">
                <a:solidFill>
                  <a:srgbClr val="000000"/>
                </a:solidFill>
                <a:latin typeface="Quicksand Bold"/>
                <a:ea typeface="Quicksand Bold"/>
                <a:cs typeface="Quicksand Bold"/>
                <a:sym typeface="Quicksand Bold"/>
              </a:rPr>
              <a:t>Deforestation </a:t>
            </a:r>
            <a:r>
              <a:rPr lang="en-US" b="true" sz="2499">
                <a:solidFill>
                  <a:srgbClr val="0C71A4"/>
                </a:solidFill>
                <a:latin typeface="Quicksand Bold"/>
                <a:ea typeface="Quicksand Bold"/>
                <a:cs typeface="Quicksand Bold"/>
                <a:sym typeface="Quicksand Bold"/>
              </a:rPr>
              <a:t>led to river pollution in ~51% of cases surprising since it's usually linked to land, not water.</a:t>
            </a:r>
          </a:p>
          <a:p>
            <a:pPr algn="l">
              <a:lnSpc>
                <a:spcPts val="3499"/>
              </a:lnSpc>
            </a:pPr>
          </a:p>
          <a:p>
            <a:pPr algn="l" marL="539745" indent="-269872" lvl="1">
              <a:lnSpc>
                <a:spcPts val="3499"/>
              </a:lnSpc>
              <a:buFont typeface="Arial"/>
              <a:buChar char="•"/>
            </a:pPr>
            <a:r>
              <a:rPr lang="en-US" b="true" sz="2499">
                <a:solidFill>
                  <a:srgbClr val="000000"/>
                </a:solidFill>
                <a:latin typeface="Quicksand Bold"/>
                <a:ea typeface="Quicksand Bold"/>
                <a:cs typeface="Quicksand Bold"/>
                <a:sym typeface="Quicksand Bold"/>
              </a:rPr>
              <a:t>Illegal Dumping and Industrial Waste</a:t>
            </a:r>
            <a:r>
              <a:rPr lang="en-US" b="true" sz="2499">
                <a:solidFill>
                  <a:srgbClr val="0C71A4"/>
                </a:solidFill>
                <a:latin typeface="Quicksand Bold"/>
                <a:ea typeface="Quicksand Bold"/>
                <a:cs typeface="Quicksand Bold"/>
                <a:sym typeface="Quicksand Bold"/>
              </a:rPr>
              <a:t> show a rough balance, but still polluted rivers in ~48% of incidents each.</a:t>
            </a:r>
          </a:p>
          <a:p>
            <a:pPr algn="l">
              <a:lnSpc>
                <a:spcPts val="3499"/>
              </a:lnSpc>
            </a:pPr>
          </a:p>
          <a:p>
            <a:pPr algn="l" marL="539745" indent="-269872" lvl="1">
              <a:lnSpc>
                <a:spcPts val="3499"/>
              </a:lnSpc>
              <a:buFont typeface="Arial"/>
              <a:buChar char="•"/>
            </a:pPr>
            <a:r>
              <a:rPr lang="en-US" b="true" sz="2499">
                <a:solidFill>
                  <a:srgbClr val="000000"/>
                </a:solidFill>
                <a:latin typeface="Quicksand Bold"/>
                <a:ea typeface="Quicksand Bold"/>
                <a:cs typeface="Quicksand Bold"/>
                <a:sym typeface="Quicksand Bold"/>
              </a:rPr>
              <a:t>Urban Expansion </a:t>
            </a:r>
            <a:r>
              <a:rPr lang="en-US" b="true" sz="2499">
                <a:solidFill>
                  <a:srgbClr val="0C71A4"/>
                </a:solidFill>
                <a:latin typeface="Quicksand Bold"/>
                <a:ea typeface="Quicksand Bold"/>
                <a:cs typeface="Quicksand Bold"/>
                <a:sym typeface="Quicksand Bold"/>
              </a:rPr>
              <a:t>had river pollution in &lt;49% of cases suggesting mixed impact on waterways.</a:t>
            </a:r>
          </a:p>
          <a:p>
            <a:pPr algn="l">
              <a:lnSpc>
                <a:spcPts val="3499"/>
              </a:lnSpc>
            </a:pPr>
          </a:p>
        </p:txBody>
      </p:sp>
      <p:sp>
        <p:nvSpPr>
          <p:cNvPr name="TextBox 4" id="4"/>
          <p:cNvSpPr txBox="true"/>
          <p:nvPr/>
        </p:nvSpPr>
        <p:spPr>
          <a:xfrm rot="0">
            <a:off x="876771" y="236603"/>
            <a:ext cx="16813755" cy="1027593"/>
          </a:xfrm>
          <a:prstGeom prst="rect">
            <a:avLst/>
          </a:prstGeom>
        </p:spPr>
        <p:txBody>
          <a:bodyPr anchor="t" rtlCol="false" tIns="0" lIns="0" bIns="0" rIns="0">
            <a:spAutoFit/>
          </a:bodyPr>
          <a:lstStyle/>
          <a:p>
            <a:pPr algn="l" marL="0" indent="0" lvl="0">
              <a:lnSpc>
                <a:spcPts val="8460"/>
              </a:lnSpc>
              <a:spcBef>
                <a:spcPct val="0"/>
              </a:spcBef>
            </a:pPr>
            <a:r>
              <a:rPr lang="en-US" b="true" sz="6043" i="true">
                <a:solidFill>
                  <a:srgbClr val="0F4662"/>
                </a:solidFill>
                <a:latin typeface="Cormorant Garamond Bold Italics"/>
                <a:ea typeface="Cormorant Garamond Bold Italics"/>
                <a:cs typeface="Cormorant Garamond Bold Italics"/>
                <a:sym typeface="Cormorant Garamond Bold Italics"/>
              </a:rPr>
              <a:t>River Pollution Incidents by Pollution Cause</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EDEFE1"/>
        </a:solidFill>
      </p:bgPr>
    </p:bg>
    <p:spTree>
      <p:nvGrpSpPr>
        <p:cNvPr id="1" name=""/>
        <p:cNvGrpSpPr/>
        <p:nvPr/>
      </p:nvGrpSpPr>
      <p:grpSpPr>
        <a:xfrm>
          <a:off x="0" y="0"/>
          <a:ext cx="0" cy="0"/>
          <a:chOff x="0" y="0"/>
          <a:chExt cx="0" cy="0"/>
        </a:xfrm>
      </p:grpSpPr>
      <p:sp>
        <p:nvSpPr>
          <p:cNvPr name="TextBox 2" id="2"/>
          <p:cNvSpPr txBox="true"/>
          <p:nvPr/>
        </p:nvSpPr>
        <p:spPr>
          <a:xfrm rot="0">
            <a:off x="676967" y="231227"/>
            <a:ext cx="5702843"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Key Insights</a:t>
            </a:r>
          </a:p>
        </p:txBody>
      </p:sp>
      <p:sp>
        <p:nvSpPr>
          <p:cNvPr name="TextBox 3" id="3"/>
          <p:cNvSpPr txBox="true"/>
          <p:nvPr/>
        </p:nvSpPr>
        <p:spPr>
          <a:xfrm rot="0">
            <a:off x="798809" y="1763281"/>
            <a:ext cx="15473018" cy="7881620"/>
          </a:xfrm>
          <a:prstGeom prst="rect">
            <a:avLst/>
          </a:prstGeom>
        </p:spPr>
        <p:txBody>
          <a:bodyPr anchor="t" rtlCol="false" tIns="0" lIns="0" bIns="0" rIns="0">
            <a:spAutoFit/>
          </a:bodyPr>
          <a:lstStyle/>
          <a:p>
            <a:pPr algn="l">
              <a:lnSpc>
                <a:spcPts val="3499"/>
              </a:lnSpc>
            </a:pPr>
            <a:r>
              <a:rPr lang="en-US" b="true" sz="2499">
                <a:solidFill>
                  <a:srgbClr val="000000"/>
                </a:solidFill>
                <a:latin typeface="Quicksand Bold"/>
                <a:ea typeface="Quicksand Bold"/>
                <a:cs typeface="Quicksand Bold"/>
                <a:sym typeface="Quicksand Bold"/>
              </a:rPr>
              <a:t>Pollution Events and Deforestation: A Correlative Crisis</a:t>
            </a:r>
          </a:p>
          <a:p>
            <a:pPr algn="l">
              <a:lnSpc>
                <a:spcPts val="3359"/>
              </a:lnSpc>
            </a:pPr>
            <a:r>
              <a:rPr lang="en-US" b="true" sz="2399">
                <a:solidFill>
                  <a:srgbClr val="0C71A4"/>
                </a:solidFill>
                <a:latin typeface="Quicksand Bold"/>
                <a:ea typeface="Quicksand Bold"/>
                <a:cs typeface="Quicksand Bold"/>
                <a:sym typeface="Quicksand Bold"/>
              </a:rPr>
              <a:t>Pollution incidents and tree destruction appear to be correlated, and both may be contributing to a reinforcing cycle of environmental degradation.</a:t>
            </a:r>
          </a:p>
          <a:p>
            <a:pPr algn="l">
              <a:lnSpc>
                <a:spcPts val="2940"/>
              </a:lnSpc>
            </a:pPr>
          </a:p>
          <a:p>
            <a:pPr algn="l">
              <a:lnSpc>
                <a:spcPts val="3499"/>
              </a:lnSpc>
            </a:pPr>
            <a:r>
              <a:rPr lang="en-US" b="true" sz="2499">
                <a:solidFill>
                  <a:srgbClr val="000000"/>
                </a:solidFill>
                <a:latin typeface="Quicksand Bold"/>
                <a:ea typeface="Quicksand Bold"/>
                <a:cs typeface="Quicksand Bold"/>
                <a:sym typeface="Quicksand Bold"/>
              </a:rPr>
              <a:t>The Complexity of Tree Destruction</a:t>
            </a:r>
          </a:p>
          <a:p>
            <a:pPr algn="l">
              <a:lnSpc>
                <a:spcPts val="3359"/>
              </a:lnSpc>
            </a:pPr>
            <a:r>
              <a:rPr lang="en-US" b="true" sz="2399">
                <a:solidFill>
                  <a:srgbClr val="0C71A4"/>
                </a:solidFill>
                <a:latin typeface="Arimo Bold"/>
                <a:ea typeface="Arimo Bold"/>
                <a:cs typeface="Arimo Bold"/>
                <a:sym typeface="Arimo Bold"/>
              </a:rPr>
              <a:t>Tree destruction is a multifaceted issue with no single culprit. Various factors including industrial activities, agricultural runoff, urban sprawl, and ineffective waste management are collectively stressing ecosystems.</a:t>
            </a:r>
          </a:p>
          <a:p>
            <a:pPr algn="l">
              <a:lnSpc>
                <a:spcPts val="2940"/>
              </a:lnSpc>
            </a:pPr>
          </a:p>
          <a:p>
            <a:pPr algn="l">
              <a:lnSpc>
                <a:spcPts val="3499"/>
              </a:lnSpc>
            </a:pPr>
            <a:r>
              <a:rPr lang="en-US" b="true" sz="2499">
                <a:solidFill>
                  <a:srgbClr val="000000"/>
                </a:solidFill>
                <a:latin typeface="Arimo Bold"/>
                <a:ea typeface="Arimo Bold"/>
                <a:cs typeface="Arimo Bold"/>
                <a:sym typeface="Arimo Bold"/>
              </a:rPr>
              <a:t>The Need for Stronger Restoration Policies</a:t>
            </a:r>
          </a:p>
          <a:p>
            <a:pPr algn="l">
              <a:lnSpc>
                <a:spcPts val="3359"/>
              </a:lnSpc>
            </a:pPr>
            <a:r>
              <a:rPr lang="en-US" b="true" sz="2399">
                <a:solidFill>
                  <a:srgbClr val="0C71A4"/>
                </a:solidFill>
                <a:latin typeface="Arimo Bold"/>
                <a:ea typeface="Arimo Bold"/>
                <a:cs typeface="Arimo Bold"/>
                <a:sym typeface="Arimo Bold"/>
              </a:rPr>
              <a:t>Many environmental damages, particularly deforestation and urban expansion, remain unresolved, emphasizing the necessity for improved restoration policies and long-term planning.</a:t>
            </a:r>
          </a:p>
          <a:p>
            <a:pPr algn="l">
              <a:lnSpc>
                <a:spcPts val="2940"/>
              </a:lnSpc>
            </a:pPr>
          </a:p>
          <a:p>
            <a:pPr algn="l">
              <a:lnSpc>
                <a:spcPts val="3499"/>
              </a:lnSpc>
            </a:pPr>
            <a:r>
              <a:rPr lang="en-US" b="true" sz="2499">
                <a:solidFill>
                  <a:srgbClr val="000000"/>
                </a:solidFill>
                <a:latin typeface="Quicksand Bold"/>
                <a:ea typeface="Quicksand Bold"/>
                <a:cs typeface="Quicksand Bold"/>
                <a:sym typeface="Quicksand Bold"/>
              </a:rPr>
              <a:t>State-Specific Environmental Challenges</a:t>
            </a:r>
          </a:p>
          <a:p>
            <a:pPr algn="l">
              <a:lnSpc>
                <a:spcPts val="3359"/>
              </a:lnSpc>
            </a:pPr>
            <a:r>
              <a:rPr lang="en-US" b="true" sz="2400">
                <a:solidFill>
                  <a:srgbClr val="0C71A4"/>
                </a:solidFill>
                <a:latin typeface="Arimo Bold"/>
                <a:ea typeface="Arimo Bold"/>
                <a:cs typeface="Arimo Bold"/>
                <a:sym typeface="Arimo Bold"/>
              </a:rPr>
              <a:t>Each state possesses a distinct environmental footprint. While some grapple with deforestation, others contend with urban expansion or illegal dumping. Customized, state-specific environmental policies are crucial for effective management.</a:t>
            </a:r>
          </a:p>
          <a:p>
            <a:pPr algn="l">
              <a:lnSpc>
                <a:spcPts val="3359"/>
              </a:lnSpc>
            </a:pPr>
          </a:p>
          <a:p>
            <a:pPr algn="l">
              <a:lnSpc>
                <a:spcPts val="3359"/>
              </a:lnSpc>
            </a:pP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EDEFE1"/>
        </a:solidFill>
      </p:bgPr>
    </p:bg>
    <p:spTree>
      <p:nvGrpSpPr>
        <p:cNvPr id="1" name=""/>
        <p:cNvGrpSpPr/>
        <p:nvPr/>
      </p:nvGrpSpPr>
      <p:grpSpPr>
        <a:xfrm>
          <a:off x="0" y="0"/>
          <a:ext cx="0" cy="0"/>
          <a:chOff x="0" y="0"/>
          <a:chExt cx="0" cy="0"/>
        </a:xfrm>
      </p:grpSpPr>
      <p:sp>
        <p:nvSpPr>
          <p:cNvPr name="TextBox 2" id="2"/>
          <p:cNvSpPr txBox="true"/>
          <p:nvPr/>
        </p:nvSpPr>
        <p:spPr>
          <a:xfrm rot="0">
            <a:off x="676967" y="231227"/>
            <a:ext cx="5702843"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Key Insights</a:t>
            </a:r>
          </a:p>
        </p:txBody>
      </p:sp>
      <p:sp>
        <p:nvSpPr>
          <p:cNvPr name="TextBox 3" id="3"/>
          <p:cNvSpPr txBox="true"/>
          <p:nvPr/>
        </p:nvSpPr>
        <p:spPr>
          <a:xfrm rot="0">
            <a:off x="124204" y="1774629"/>
            <a:ext cx="18039592" cy="6330315"/>
          </a:xfrm>
          <a:prstGeom prst="rect">
            <a:avLst/>
          </a:prstGeom>
        </p:spPr>
        <p:txBody>
          <a:bodyPr anchor="t" rtlCol="false" tIns="0" lIns="0" bIns="0" rIns="0">
            <a:spAutoFit/>
          </a:bodyPr>
          <a:lstStyle/>
          <a:p>
            <a:pPr algn="l">
              <a:lnSpc>
                <a:spcPts val="3359"/>
              </a:lnSpc>
            </a:pPr>
          </a:p>
          <a:p>
            <a:pPr algn="l">
              <a:lnSpc>
                <a:spcPts val="3499"/>
              </a:lnSpc>
            </a:pPr>
          </a:p>
          <a:p>
            <a:pPr algn="l">
              <a:lnSpc>
                <a:spcPts val="3499"/>
              </a:lnSpc>
            </a:pPr>
            <a:r>
              <a:rPr lang="en-US" sz="2499" b="true">
                <a:solidFill>
                  <a:srgbClr val="000000"/>
                </a:solidFill>
                <a:latin typeface="Quicksand Bold"/>
                <a:ea typeface="Quicksand Bold"/>
                <a:cs typeface="Quicksand Bold"/>
                <a:sym typeface="Quicksand Bold"/>
              </a:rPr>
              <a:t>Notable Cases: Tamil Nadu, Karnataka, and Beyond</a:t>
            </a:r>
          </a:p>
          <a:p>
            <a:pPr algn="l">
              <a:lnSpc>
                <a:spcPts val="3359"/>
              </a:lnSpc>
            </a:pPr>
            <a:r>
              <a:rPr lang="en-US" sz="2400" b="true">
                <a:solidFill>
                  <a:srgbClr val="0C71A4"/>
                </a:solidFill>
                <a:latin typeface="Quicksand Bold"/>
                <a:ea typeface="Quicksand Bold"/>
                <a:cs typeface="Quicksand Bold"/>
                <a:sym typeface="Quicksand Bold"/>
              </a:rPr>
              <a:t>Tamil Nadu and Karnataka are highlighted for severe water and soil pollution, respectively. Maharashtra encounters significant environmental pressures across multiple areas, while Odisha and Bihar face challenges with air and water quality.</a:t>
            </a:r>
          </a:p>
          <a:p>
            <a:pPr algn="l">
              <a:lnSpc>
                <a:spcPts val="3499"/>
              </a:lnSpc>
            </a:pPr>
          </a:p>
          <a:p>
            <a:pPr algn="l">
              <a:lnSpc>
                <a:spcPts val="3499"/>
              </a:lnSpc>
            </a:pPr>
            <a:r>
              <a:rPr lang="en-US" sz="2499" b="true">
                <a:solidFill>
                  <a:srgbClr val="000000"/>
                </a:solidFill>
                <a:latin typeface="Quicksand Bold"/>
                <a:ea typeface="Quicksand Bold"/>
                <a:cs typeface="Quicksand Bold"/>
                <a:sym typeface="Quicksand Bold"/>
              </a:rPr>
              <a:t>Government Response Times</a:t>
            </a:r>
          </a:p>
          <a:p>
            <a:pPr algn="l">
              <a:lnSpc>
                <a:spcPts val="3359"/>
              </a:lnSpc>
            </a:pPr>
            <a:r>
              <a:rPr lang="en-US" sz="2399" b="true">
                <a:solidFill>
                  <a:srgbClr val="0C71A4"/>
                </a:solidFill>
                <a:latin typeface="Quicksand Bold"/>
                <a:ea typeface="Quicksand Bold"/>
                <a:cs typeface="Quicksand Bold"/>
                <a:sym typeface="Quicksand Bold"/>
              </a:rPr>
              <a:t>On average, government responses to pollution incidents take nearly three months across states, with Punjab and Kerala experiencing the longest delays. Swift response mechanisms are vital for effective mitigation and recovery.</a:t>
            </a:r>
          </a:p>
          <a:p>
            <a:pPr algn="l">
              <a:lnSpc>
                <a:spcPts val="2940"/>
              </a:lnSpc>
            </a:pPr>
          </a:p>
          <a:p>
            <a:pPr algn="l">
              <a:lnSpc>
                <a:spcPts val="3499"/>
              </a:lnSpc>
            </a:pPr>
            <a:r>
              <a:rPr lang="en-US" sz="2499" b="true">
                <a:solidFill>
                  <a:srgbClr val="000000"/>
                </a:solidFill>
                <a:latin typeface="Quicksand Bold"/>
                <a:ea typeface="Quicksand Bold"/>
                <a:cs typeface="Quicksand Bold"/>
                <a:sym typeface="Quicksand Bold"/>
              </a:rPr>
              <a:t>Agricultural Runoff: A Leading Pollutant</a:t>
            </a:r>
          </a:p>
          <a:p>
            <a:pPr algn="l">
              <a:lnSpc>
                <a:spcPts val="3359"/>
              </a:lnSpc>
            </a:pPr>
            <a:r>
              <a:rPr lang="en-US" sz="2399" b="true">
                <a:solidFill>
                  <a:srgbClr val="0C71A4"/>
                </a:solidFill>
                <a:latin typeface="Quicksand Bold"/>
                <a:ea typeface="Quicksand Bold"/>
                <a:cs typeface="Quicksand Bold"/>
                <a:sym typeface="Quicksand Bold"/>
              </a:rPr>
              <a:t>Agricultural runoff is the primary cause of water pollution, affecting rivers in over half of the reported incidents. Surprisingly, both deforestation and illegal dumping also contribute significantly to river pollution, underscoring indirect risks to water ecosystems.</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EDEFE1"/>
        </a:solidFill>
      </p:bgPr>
    </p:bg>
    <p:spTree>
      <p:nvGrpSpPr>
        <p:cNvPr id="1" name=""/>
        <p:cNvGrpSpPr/>
        <p:nvPr/>
      </p:nvGrpSpPr>
      <p:grpSpPr>
        <a:xfrm>
          <a:off x="0" y="0"/>
          <a:ext cx="0" cy="0"/>
          <a:chOff x="0" y="0"/>
          <a:chExt cx="0" cy="0"/>
        </a:xfrm>
      </p:grpSpPr>
      <p:sp>
        <p:nvSpPr>
          <p:cNvPr name="TextBox 2" id="2"/>
          <p:cNvSpPr txBox="true"/>
          <p:nvPr/>
        </p:nvSpPr>
        <p:spPr>
          <a:xfrm rot="0">
            <a:off x="624574" y="80485"/>
            <a:ext cx="5702843"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Recommendations</a:t>
            </a:r>
          </a:p>
        </p:txBody>
      </p:sp>
      <p:sp>
        <p:nvSpPr>
          <p:cNvPr name="TextBox 3" id="3"/>
          <p:cNvSpPr txBox="true"/>
          <p:nvPr/>
        </p:nvSpPr>
        <p:spPr>
          <a:xfrm rot="0">
            <a:off x="624574" y="1453683"/>
            <a:ext cx="16427066" cy="8582622"/>
          </a:xfrm>
          <a:prstGeom prst="rect">
            <a:avLst/>
          </a:prstGeom>
        </p:spPr>
        <p:txBody>
          <a:bodyPr anchor="t" rtlCol="false" tIns="0" lIns="0" bIns="0" rIns="0">
            <a:spAutoFit/>
          </a:bodyPr>
          <a:lstStyle/>
          <a:p>
            <a:pPr algn="l">
              <a:lnSpc>
                <a:spcPts val="3919"/>
              </a:lnSpc>
            </a:pPr>
            <a:r>
              <a:rPr lang="en-US" sz="2799" b="true">
                <a:solidFill>
                  <a:srgbClr val="000000"/>
                </a:solidFill>
                <a:latin typeface="Quicksand Bold"/>
                <a:ea typeface="Quicksand Bold"/>
                <a:cs typeface="Quicksand Bold"/>
                <a:sym typeface="Quicksand Bold"/>
              </a:rPr>
              <a:t>Policy and Enforcement</a:t>
            </a:r>
          </a:p>
          <a:p>
            <a:pPr algn="l" marL="518160" indent="-259080" lvl="1">
              <a:lnSpc>
                <a:spcPts val="3359"/>
              </a:lnSpc>
              <a:buFont typeface="Arial"/>
              <a:buChar char="•"/>
            </a:pPr>
            <a:r>
              <a:rPr lang="en-US" b="true" sz="2400">
                <a:solidFill>
                  <a:srgbClr val="0C71A4"/>
                </a:solidFill>
                <a:latin typeface="Quicksand Bold"/>
                <a:ea typeface="Quicksand Bold"/>
                <a:cs typeface="Quicksand Bold"/>
                <a:sym typeface="Quicksand Bold"/>
              </a:rPr>
              <a:t>Implement stricter regulations on agricultural runoff, illegal dumping, and industrial waste, which are major contributors to tree loss and water pollution.</a:t>
            </a:r>
          </a:p>
          <a:p>
            <a:pPr algn="l" marL="518160" indent="-259080" lvl="1">
              <a:lnSpc>
                <a:spcPts val="3359"/>
              </a:lnSpc>
              <a:buFont typeface="Arial"/>
              <a:buChar char="•"/>
            </a:pPr>
            <a:r>
              <a:rPr lang="en-US" b="true" sz="2400">
                <a:solidFill>
                  <a:srgbClr val="0C71A4"/>
                </a:solidFill>
                <a:latin typeface="Quicksand Bold"/>
                <a:ea typeface="Quicksand Bold"/>
                <a:cs typeface="Quicksand Bold"/>
                <a:sym typeface="Quicksand Bold"/>
              </a:rPr>
              <a:t>Launch targeted afforestation initiatives in states experiencing high levels of tree destruction and pollution, such as Maharashtra, Karnataka, and Tamil Nadu.</a:t>
            </a:r>
          </a:p>
          <a:p>
            <a:pPr algn="l">
              <a:lnSpc>
                <a:spcPts val="3359"/>
              </a:lnSpc>
            </a:pPr>
          </a:p>
          <a:p>
            <a:pPr algn="l" marL="0" indent="0" lvl="0">
              <a:lnSpc>
                <a:spcPts val="3919"/>
              </a:lnSpc>
            </a:pPr>
            <a:r>
              <a:rPr lang="en-US" b="true" sz="2799">
                <a:solidFill>
                  <a:srgbClr val="000000"/>
                </a:solidFill>
                <a:latin typeface="Quicksand Bold"/>
                <a:ea typeface="Quicksand Bold"/>
                <a:cs typeface="Quicksand Bold"/>
                <a:sym typeface="Quicksand Bold"/>
              </a:rPr>
              <a:t>Technology and Monitoring</a:t>
            </a:r>
          </a:p>
          <a:p>
            <a:pPr algn="l" marL="518160" indent="-259080" lvl="1">
              <a:lnSpc>
                <a:spcPts val="3359"/>
              </a:lnSpc>
              <a:buFont typeface="Arial"/>
              <a:buChar char="•"/>
            </a:pPr>
            <a:r>
              <a:rPr lang="en-US" b="true" sz="2400">
                <a:solidFill>
                  <a:srgbClr val="0C71A4"/>
                </a:solidFill>
                <a:latin typeface="Quicksand Bold"/>
                <a:ea typeface="Quicksand Bold"/>
                <a:cs typeface="Quicksand Bold"/>
                <a:sym typeface="Quicksand Bold"/>
              </a:rPr>
              <a:t>Establish quicker response frameworks by utilising digital reporting and GIS monitoring, aiming to decrease the current average response time of 90 days.</a:t>
            </a:r>
          </a:p>
          <a:p>
            <a:pPr algn="l" marL="518160" indent="-259080" lvl="1">
              <a:lnSpc>
                <a:spcPts val="3359"/>
              </a:lnSpc>
              <a:buFont typeface="Arial"/>
              <a:buChar char="•"/>
            </a:pPr>
            <a:r>
              <a:rPr lang="en-US" b="true" sz="2400">
                <a:solidFill>
                  <a:srgbClr val="0C71A4"/>
                </a:solidFill>
                <a:latin typeface="Quicksand Bold"/>
                <a:ea typeface="Quicksand Bold"/>
                <a:cs typeface="Quicksand Bold"/>
                <a:sym typeface="Quicksand Bold"/>
              </a:rPr>
              <a:t>Employ drones and satellite imagery to identify illegal deforestation and dumping activities at an early stage.</a:t>
            </a:r>
          </a:p>
          <a:p>
            <a:pPr algn="l" marL="518160" indent="-259080" lvl="1">
              <a:lnSpc>
                <a:spcPts val="3359"/>
              </a:lnSpc>
              <a:buFont typeface="Arial"/>
              <a:buChar char="•"/>
            </a:pPr>
            <a:r>
              <a:rPr lang="en-US" b="true" sz="2400">
                <a:solidFill>
                  <a:srgbClr val="0C71A4"/>
                </a:solidFill>
                <a:latin typeface="Quicksand Bold"/>
                <a:ea typeface="Quicksand Bold"/>
                <a:cs typeface="Quicksand Bold"/>
                <a:sym typeface="Quicksand Bold"/>
              </a:rPr>
              <a:t> Enforce environmental impact assessments (EIA) for major infrastructure and land use projects.</a:t>
            </a:r>
          </a:p>
          <a:p>
            <a:pPr algn="l">
              <a:lnSpc>
                <a:spcPts val="3359"/>
              </a:lnSpc>
            </a:pPr>
          </a:p>
          <a:p>
            <a:pPr algn="l">
              <a:lnSpc>
                <a:spcPts val="3919"/>
              </a:lnSpc>
            </a:pPr>
            <a:r>
              <a:rPr lang="en-US" sz="2799" b="true">
                <a:solidFill>
                  <a:srgbClr val="000000"/>
                </a:solidFill>
                <a:latin typeface="Quicksand Bold"/>
                <a:ea typeface="Quicksand Bold"/>
                <a:cs typeface="Quicksand Bold"/>
                <a:sym typeface="Quicksand Bold"/>
              </a:rPr>
              <a:t>AQI</a:t>
            </a:r>
          </a:p>
          <a:p>
            <a:pPr algn="l" marL="518160" indent="-259080" lvl="1">
              <a:lnSpc>
                <a:spcPts val="3359"/>
              </a:lnSpc>
              <a:buFont typeface="Arial"/>
              <a:buChar char="•"/>
            </a:pPr>
            <a:r>
              <a:rPr lang="en-US" b="true" sz="2400">
                <a:solidFill>
                  <a:srgbClr val="0C71A4"/>
                </a:solidFill>
                <a:latin typeface="Quicksand Bold"/>
                <a:ea typeface="Quicksand Bold"/>
                <a:cs typeface="Quicksand Bold"/>
                <a:sym typeface="Quicksand Bold"/>
              </a:rPr>
              <a:t>Focus air quality controls on non-forest emission sources like traffic, industry, and construction </a:t>
            </a:r>
          </a:p>
          <a:p>
            <a:pPr algn="l" marL="518160" indent="-259080" lvl="1">
              <a:lnSpc>
                <a:spcPts val="3359"/>
              </a:lnSpc>
              <a:buFont typeface="Arial"/>
              <a:buChar char="•"/>
            </a:pPr>
            <a:r>
              <a:rPr lang="en-US" b="true" sz="2400">
                <a:solidFill>
                  <a:srgbClr val="0C71A4"/>
                </a:solidFill>
                <a:latin typeface="Quicksand Bold"/>
                <a:ea typeface="Quicksand Bold"/>
                <a:cs typeface="Quicksand Bold"/>
                <a:sym typeface="Quicksand Bold"/>
              </a:rPr>
              <a:t>Introduce urban tree plantation drives specifically in high-AQI districts.</a:t>
            </a:r>
          </a:p>
          <a:p>
            <a:pPr algn="l" marL="518160" indent="-259080" lvl="1">
              <a:lnSpc>
                <a:spcPts val="3359"/>
              </a:lnSpc>
              <a:buFont typeface="Arial"/>
              <a:buChar char="•"/>
            </a:pPr>
            <a:r>
              <a:rPr lang="en-US" b="true" sz="2400">
                <a:solidFill>
                  <a:srgbClr val="0C71A4"/>
                </a:solidFill>
                <a:latin typeface="Quicksand Bold"/>
                <a:ea typeface="Quicksand Bold"/>
                <a:cs typeface="Quicksand Bold"/>
                <a:sym typeface="Quicksand Bold"/>
              </a:rPr>
              <a:t>Couple afforestation with industrial and vehicular emission controls.</a:t>
            </a:r>
          </a:p>
          <a:p>
            <a:pPr algn="l" marL="518160" indent="-259080" lvl="1">
              <a:lnSpc>
                <a:spcPts val="3359"/>
              </a:lnSpc>
              <a:buFont typeface="Arial"/>
              <a:buChar char="•"/>
            </a:pPr>
            <a:r>
              <a:rPr lang="en-US" b="true" sz="2400">
                <a:solidFill>
                  <a:srgbClr val="0C71A4"/>
                </a:solidFill>
                <a:latin typeface="Quicksand Bold"/>
                <a:ea typeface="Quicksand Bold"/>
                <a:cs typeface="Quicksand Bold"/>
                <a:sym typeface="Quicksand Bold"/>
              </a:rPr>
              <a:t>Invest in green urban infrastructure like green roofs, roadside plantations, and low-emission transport.</a:t>
            </a:r>
          </a:p>
          <a:p>
            <a:pPr algn="l">
              <a:lnSpc>
                <a:spcPts val="3084"/>
              </a:lnSpc>
            </a:pPr>
          </a:p>
          <a:p>
            <a:pPr algn="l">
              <a:lnSpc>
                <a:spcPts val="3364"/>
              </a:lnSpc>
            </a:pPr>
            <a:r>
              <a:rPr lang="en-US" sz="2403" b="true">
                <a:solidFill>
                  <a:srgbClr val="0C71A4"/>
                </a:solidFill>
                <a:latin typeface="Quicksand Bold"/>
                <a:ea typeface="Quicksand Bold"/>
                <a:cs typeface="Quicksand Bold"/>
                <a:sym typeface="Quicksand Bold"/>
              </a:rPr>
              <a:t> </a:t>
            </a: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EDEFE1"/>
        </a:solidFill>
      </p:bgPr>
    </p:bg>
    <p:spTree>
      <p:nvGrpSpPr>
        <p:cNvPr id="1" name=""/>
        <p:cNvGrpSpPr/>
        <p:nvPr/>
      </p:nvGrpSpPr>
      <p:grpSpPr>
        <a:xfrm>
          <a:off x="0" y="0"/>
          <a:ext cx="0" cy="0"/>
          <a:chOff x="0" y="0"/>
          <a:chExt cx="0" cy="0"/>
        </a:xfrm>
      </p:grpSpPr>
      <p:sp>
        <p:nvSpPr>
          <p:cNvPr name="TextBox 2" id="2"/>
          <p:cNvSpPr txBox="true"/>
          <p:nvPr/>
        </p:nvSpPr>
        <p:spPr>
          <a:xfrm rot="0">
            <a:off x="624574" y="80485"/>
            <a:ext cx="5702843"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Recommendations</a:t>
            </a:r>
          </a:p>
        </p:txBody>
      </p:sp>
      <p:sp>
        <p:nvSpPr>
          <p:cNvPr name="TextBox 3" id="3"/>
          <p:cNvSpPr txBox="true"/>
          <p:nvPr/>
        </p:nvSpPr>
        <p:spPr>
          <a:xfrm rot="0">
            <a:off x="624574" y="1915091"/>
            <a:ext cx="15613340" cy="5726392"/>
          </a:xfrm>
          <a:prstGeom prst="rect">
            <a:avLst/>
          </a:prstGeom>
        </p:spPr>
        <p:txBody>
          <a:bodyPr anchor="t" rtlCol="false" tIns="0" lIns="0" bIns="0" rIns="0">
            <a:spAutoFit/>
          </a:bodyPr>
          <a:lstStyle/>
          <a:p>
            <a:pPr algn="l">
              <a:lnSpc>
                <a:spcPts val="3364"/>
              </a:lnSpc>
            </a:pPr>
          </a:p>
          <a:p>
            <a:pPr algn="l">
              <a:lnSpc>
                <a:spcPts val="3779"/>
              </a:lnSpc>
            </a:pPr>
          </a:p>
          <a:p>
            <a:pPr algn="l" marL="0" indent="0" lvl="0">
              <a:lnSpc>
                <a:spcPts val="4199"/>
              </a:lnSpc>
            </a:pPr>
            <a:r>
              <a:rPr lang="en-US" b="true" sz="2999">
                <a:solidFill>
                  <a:srgbClr val="000000"/>
                </a:solidFill>
                <a:latin typeface="Quicksand Bold"/>
                <a:ea typeface="Quicksand Bold"/>
                <a:cs typeface="Quicksand Bold"/>
                <a:sym typeface="Quicksand Bold"/>
              </a:rPr>
              <a:t>Water-Specific Interventions</a:t>
            </a:r>
          </a:p>
          <a:p>
            <a:pPr algn="l" marL="582928" indent="-291464" lvl="1">
              <a:lnSpc>
                <a:spcPts val="3779"/>
              </a:lnSpc>
              <a:buFont typeface="Arial"/>
              <a:buChar char="•"/>
            </a:pPr>
            <a:r>
              <a:rPr lang="en-US" b="true" sz="2699">
                <a:solidFill>
                  <a:srgbClr val="0C71A4"/>
                </a:solidFill>
                <a:latin typeface="Quicksand Bold"/>
                <a:ea typeface="Quicksand Bold"/>
                <a:cs typeface="Quicksand Bold"/>
                <a:sym typeface="Quicksand Bold"/>
              </a:rPr>
              <a:t>Create riparian buffer zones and provide incentives for organic farming in states at high risk to mitigate river pollution caused by agricultural practices.</a:t>
            </a:r>
          </a:p>
          <a:p>
            <a:pPr algn="l">
              <a:lnSpc>
                <a:spcPts val="3779"/>
              </a:lnSpc>
            </a:pPr>
          </a:p>
          <a:p>
            <a:pPr algn="l">
              <a:lnSpc>
                <a:spcPts val="3779"/>
              </a:lnSpc>
            </a:pPr>
          </a:p>
          <a:p>
            <a:pPr algn="l" marL="0" indent="0" lvl="0">
              <a:lnSpc>
                <a:spcPts val="4199"/>
              </a:lnSpc>
            </a:pPr>
            <a:r>
              <a:rPr lang="en-US" b="true" sz="2999">
                <a:solidFill>
                  <a:srgbClr val="000000"/>
                </a:solidFill>
                <a:latin typeface="Quicksand Bold"/>
                <a:ea typeface="Quicksand Bold"/>
                <a:cs typeface="Quicksand Bold"/>
                <a:sym typeface="Quicksand Bold"/>
              </a:rPr>
              <a:t>Public Awareness and Incentives</a:t>
            </a:r>
          </a:p>
          <a:p>
            <a:pPr algn="l" marL="582928" indent="-291464" lvl="1">
              <a:lnSpc>
                <a:spcPts val="3779"/>
              </a:lnSpc>
              <a:buFont typeface="Arial"/>
              <a:buChar char="•"/>
            </a:pPr>
            <a:r>
              <a:rPr lang="en-US" b="true" sz="2699">
                <a:solidFill>
                  <a:srgbClr val="0C71A4"/>
                </a:solidFill>
                <a:latin typeface="Quicksand Bold"/>
                <a:ea typeface="Quicksand Bold"/>
                <a:cs typeface="Quicksand Bold"/>
                <a:sym typeface="Quicksand Bold"/>
              </a:rPr>
              <a:t>Conduct awareness campaigns in urban areas regarding the effects of urban expansion and local waste management on recovery efforts and river health.</a:t>
            </a:r>
          </a:p>
          <a:p>
            <a:pPr algn="l" marL="582928" indent="-291464" lvl="1">
              <a:lnSpc>
                <a:spcPts val="3779"/>
              </a:lnSpc>
              <a:buFont typeface="Arial"/>
              <a:buChar char="•"/>
            </a:pPr>
            <a:r>
              <a:rPr lang="en-US" b="true" sz="2699">
                <a:solidFill>
                  <a:srgbClr val="0C71A4"/>
                </a:solidFill>
                <a:latin typeface="Quicksand Bold"/>
                <a:ea typeface="Quicksand Bold"/>
                <a:cs typeface="Quicksand Bold"/>
                <a:sym typeface="Quicksand Bold"/>
              </a:rPr>
              <a:t>Offer tax incentives or subsidies to industries that make proactive investments in green recovery initiatives or low-emission technologies.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DEFE1"/>
        </a:solidFill>
      </p:bgPr>
    </p:bg>
    <p:spTree>
      <p:nvGrpSpPr>
        <p:cNvPr id="1" name=""/>
        <p:cNvGrpSpPr/>
        <p:nvPr/>
      </p:nvGrpSpPr>
      <p:grpSpPr>
        <a:xfrm>
          <a:off x="0" y="0"/>
          <a:ext cx="0" cy="0"/>
          <a:chOff x="0" y="0"/>
          <a:chExt cx="0" cy="0"/>
        </a:xfrm>
      </p:grpSpPr>
      <p:sp>
        <p:nvSpPr>
          <p:cNvPr name="TextBox 2" id="2"/>
          <p:cNvSpPr txBox="true"/>
          <p:nvPr/>
        </p:nvSpPr>
        <p:spPr>
          <a:xfrm rot="0">
            <a:off x="1028700" y="599709"/>
            <a:ext cx="11534821"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A8472"/>
                </a:solidFill>
                <a:latin typeface="Cormorant Garamond Bold Italics"/>
                <a:ea typeface="Cormorant Garamond Bold Italics"/>
                <a:cs typeface="Cormorant Garamond Bold Italics"/>
                <a:sym typeface="Cormorant Garamond Bold Italics"/>
              </a:rPr>
              <a:t>Conclusion</a:t>
            </a:r>
          </a:p>
        </p:txBody>
      </p:sp>
      <p:sp>
        <p:nvSpPr>
          <p:cNvPr name="AutoShape 3" id="3"/>
          <p:cNvSpPr/>
          <p:nvPr/>
        </p:nvSpPr>
        <p:spPr>
          <a:xfrm>
            <a:off x="5897880" y="3340721"/>
            <a:ext cx="6492240" cy="0"/>
          </a:xfrm>
          <a:prstGeom prst="line">
            <a:avLst/>
          </a:prstGeom>
          <a:ln cap="flat" w="76200">
            <a:solidFill>
              <a:srgbClr val="0F4662"/>
            </a:solidFill>
            <a:prstDash val="solid"/>
            <a:headEnd type="none" len="sm" w="sm"/>
            <a:tailEnd type="none" len="sm" w="sm"/>
          </a:ln>
        </p:spPr>
      </p:sp>
      <p:sp>
        <p:nvSpPr>
          <p:cNvPr name="AutoShape 4" id="4"/>
          <p:cNvSpPr/>
          <p:nvPr/>
        </p:nvSpPr>
        <p:spPr>
          <a:xfrm>
            <a:off x="5897880" y="6836649"/>
            <a:ext cx="6492240" cy="0"/>
          </a:xfrm>
          <a:prstGeom prst="line">
            <a:avLst/>
          </a:prstGeom>
          <a:ln cap="flat" w="76200">
            <a:solidFill>
              <a:srgbClr val="0F4662"/>
            </a:solidFill>
            <a:prstDash val="solid"/>
            <a:headEnd type="none" len="sm" w="sm"/>
            <a:tailEnd type="none" len="sm" w="sm"/>
          </a:ln>
        </p:spPr>
      </p:sp>
      <p:sp>
        <p:nvSpPr>
          <p:cNvPr name="Freeform 5" id="5"/>
          <p:cNvSpPr/>
          <p:nvPr/>
        </p:nvSpPr>
        <p:spPr>
          <a:xfrm flipH="false" flipV="false" rot="0">
            <a:off x="8304001" y="2424071"/>
            <a:ext cx="1679997" cy="249900"/>
          </a:xfrm>
          <a:custGeom>
            <a:avLst/>
            <a:gdLst/>
            <a:ahLst/>
            <a:cxnLst/>
            <a:rect r="r" b="b" t="t" l="l"/>
            <a:pathLst>
              <a:path h="249900" w="1679997">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8304001" y="7617699"/>
            <a:ext cx="1679997" cy="249900"/>
          </a:xfrm>
          <a:custGeom>
            <a:avLst/>
            <a:gdLst/>
            <a:ahLst/>
            <a:cxnLst/>
            <a:rect r="r" b="b" t="t" l="l"/>
            <a:pathLst>
              <a:path h="249900" w="1679997">
                <a:moveTo>
                  <a:pt x="0" y="0"/>
                </a:moveTo>
                <a:lnTo>
                  <a:pt x="1679998" y="0"/>
                </a:lnTo>
                <a:lnTo>
                  <a:pt x="1679998" y="249899"/>
                </a:lnTo>
                <a:lnTo>
                  <a:pt x="0" y="2498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2582988" y="3955655"/>
            <a:ext cx="13993212" cy="2214244"/>
          </a:xfrm>
          <a:prstGeom prst="rect">
            <a:avLst/>
          </a:prstGeom>
        </p:spPr>
        <p:txBody>
          <a:bodyPr anchor="t" rtlCol="false" tIns="0" lIns="0" bIns="0" rIns="0">
            <a:spAutoFit/>
          </a:bodyPr>
          <a:lstStyle/>
          <a:p>
            <a:pPr algn="l">
              <a:lnSpc>
                <a:spcPts val="4480"/>
              </a:lnSpc>
            </a:pPr>
            <a:r>
              <a:rPr lang="en-US" sz="3200" b="true">
                <a:solidFill>
                  <a:srgbClr val="0C71A4"/>
                </a:solidFill>
                <a:latin typeface="Quicksand Bold"/>
                <a:ea typeface="Quicksand Bold"/>
                <a:cs typeface="Quicksand Bold"/>
                <a:sym typeface="Quicksand Bold"/>
              </a:rPr>
              <a:t>The Tableau dashboard integrates a variety of environmental metrics, including pollution incidents, tree loss, air and water quality, recovery status, and response efficiency.It highlights both macro trends and state-level disparities, enabling data-driven decision-making.</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DEFE1"/>
        </a:solidFill>
      </p:bgPr>
    </p:bg>
    <p:spTree>
      <p:nvGrpSpPr>
        <p:cNvPr id="1" name=""/>
        <p:cNvGrpSpPr/>
        <p:nvPr/>
      </p:nvGrpSpPr>
      <p:grpSpPr>
        <a:xfrm>
          <a:off x="0" y="0"/>
          <a:ext cx="0" cy="0"/>
          <a:chOff x="0" y="0"/>
          <a:chExt cx="0" cy="0"/>
        </a:xfrm>
      </p:grpSpPr>
      <p:sp>
        <p:nvSpPr>
          <p:cNvPr name="AutoShape 2" id="2"/>
          <p:cNvSpPr/>
          <p:nvPr/>
        </p:nvSpPr>
        <p:spPr>
          <a:xfrm>
            <a:off x="5897880" y="2778612"/>
            <a:ext cx="6492240" cy="0"/>
          </a:xfrm>
          <a:prstGeom prst="line">
            <a:avLst/>
          </a:prstGeom>
          <a:ln cap="flat" w="76200">
            <a:solidFill>
              <a:srgbClr val="0F4662"/>
            </a:solidFill>
            <a:prstDash val="solid"/>
            <a:headEnd type="none" len="sm" w="sm"/>
            <a:tailEnd type="none" len="sm" w="sm"/>
          </a:ln>
        </p:spPr>
      </p:sp>
      <p:sp>
        <p:nvSpPr>
          <p:cNvPr name="AutoShape 3" id="3"/>
          <p:cNvSpPr/>
          <p:nvPr/>
        </p:nvSpPr>
        <p:spPr>
          <a:xfrm>
            <a:off x="5897880" y="6834436"/>
            <a:ext cx="6492240" cy="0"/>
          </a:xfrm>
          <a:prstGeom prst="line">
            <a:avLst/>
          </a:prstGeom>
          <a:ln cap="flat" w="76200">
            <a:solidFill>
              <a:srgbClr val="0F4662"/>
            </a:solidFill>
            <a:prstDash val="solid"/>
            <a:headEnd type="none" len="sm" w="sm"/>
            <a:tailEnd type="none" len="sm" w="sm"/>
          </a:ln>
        </p:spPr>
      </p:sp>
      <p:sp>
        <p:nvSpPr>
          <p:cNvPr name="Freeform 4" id="4"/>
          <p:cNvSpPr/>
          <p:nvPr/>
        </p:nvSpPr>
        <p:spPr>
          <a:xfrm flipH="false" flipV="false" rot="0">
            <a:off x="8304001" y="1875371"/>
            <a:ext cx="1679997" cy="249900"/>
          </a:xfrm>
          <a:custGeom>
            <a:avLst/>
            <a:gdLst/>
            <a:ahLst/>
            <a:cxnLst/>
            <a:rect r="r" b="b" t="t" l="l"/>
            <a:pathLst>
              <a:path h="249900" w="1679997">
                <a:moveTo>
                  <a:pt x="0" y="0"/>
                </a:moveTo>
                <a:lnTo>
                  <a:pt x="1679998" y="0"/>
                </a:lnTo>
                <a:lnTo>
                  <a:pt x="1679998" y="249899"/>
                </a:lnTo>
                <a:lnTo>
                  <a:pt x="0" y="2498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8077812" y="7825036"/>
            <a:ext cx="1679997" cy="249900"/>
          </a:xfrm>
          <a:custGeom>
            <a:avLst/>
            <a:gdLst/>
            <a:ahLst/>
            <a:cxnLst/>
            <a:rect r="r" b="b" t="t" l="l"/>
            <a:pathLst>
              <a:path h="249900" w="1679997">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227619" y="3673962"/>
            <a:ext cx="17060381" cy="1668780"/>
          </a:xfrm>
          <a:prstGeom prst="rect">
            <a:avLst/>
          </a:prstGeom>
        </p:spPr>
        <p:txBody>
          <a:bodyPr anchor="t" rtlCol="false" tIns="0" lIns="0" bIns="0" rIns="0">
            <a:spAutoFit/>
          </a:bodyPr>
          <a:lstStyle/>
          <a:p>
            <a:pPr algn="l">
              <a:lnSpc>
                <a:spcPts val="6719"/>
              </a:lnSpc>
              <a:spcBef>
                <a:spcPct val="0"/>
              </a:spcBef>
            </a:pPr>
            <a:r>
              <a:rPr lang="en-US" b="true" sz="4800" i="true" u="sng">
                <a:solidFill>
                  <a:srgbClr val="0A8472"/>
                </a:solidFill>
                <a:latin typeface="Cormorant Garamond Bold Italics"/>
                <a:ea typeface="Cormorant Garamond Bold Italics"/>
                <a:cs typeface="Cormorant Garamond Bold Italics"/>
                <a:sym typeface="Cormorant Garamond Bold Italics"/>
                <a:hlinkClick r:id="rId4" tooltip="https://public.tableau.com/views/Vanishinggreen/Dashboard15?:language=en-US&amp;:sid=&amp;:redirect=auth&amp;:display_count=n&amp;:origin=viz_share_link"/>
              </a:rPr>
              <a:t>📊 Explore the Interactive Dashboard:</a:t>
            </a:r>
          </a:p>
          <a:p>
            <a:pPr algn="l">
              <a:lnSpc>
                <a:spcPts val="6719"/>
              </a:lnSpc>
              <a:spcBef>
                <a:spcPct val="0"/>
              </a:spcBef>
            </a:pPr>
          </a:p>
        </p:txBody>
      </p:sp>
      <p:sp>
        <p:nvSpPr>
          <p:cNvPr name="TextBox 7" id="7"/>
          <p:cNvSpPr txBox="true"/>
          <p:nvPr/>
        </p:nvSpPr>
        <p:spPr>
          <a:xfrm rot="0">
            <a:off x="1236460" y="4762987"/>
            <a:ext cx="16230600" cy="1083309"/>
          </a:xfrm>
          <a:prstGeom prst="rect">
            <a:avLst/>
          </a:prstGeom>
        </p:spPr>
        <p:txBody>
          <a:bodyPr anchor="t" rtlCol="false" tIns="0" lIns="0" bIns="0" rIns="0">
            <a:spAutoFit/>
          </a:bodyPr>
          <a:lstStyle/>
          <a:p>
            <a:pPr algn="l">
              <a:lnSpc>
                <a:spcPts val="4340"/>
              </a:lnSpc>
            </a:pPr>
            <a:r>
              <a:rPr lang="en-US" sz="3100" u="sng">
                <a:solidFill>
                  <a:srgbClr val="0C71A4"/>
                </a:solidFill>
                <a:latin typeface="Arimo"/>
                <a:ea typeface="Arimo"/>
                <a:cs typeface="Arimo"/>
                <a:sym typeface="Arimo"/>
                <a:hlinkClick r:id="rId5" tooltip="https://public.tableau.com/views/Vanishinggreen/Dashboard15?:language=en-US&amp;:sid=&amp;:redirect=auth&amp;:display_count=n&amp;:origin=viz_share_link"/>
              </a:rPr>
              <a:t>https://public.tableau.com/views/Vanishinggreen/Dashboard15?:language=en-US&amp;:sid=&amp;:redirect=auth&amp;:display_count=n&amp;:origin=viz_share_link</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DEFE1"/>
        </a:solidFill>
      </p:bgPr>
    </p:bg>
    <p:spTree>
      <p:nvGrpSpPr>
        <p:cNvPr id="1" name=""/>
        <p:cNvGrpSpPr/>
        <p:nvPr/>
      </p:nvGrpSpPr>
      <p:grpSpPr>
        <a:xfrm>
          <a:off x="0" y="0"/>
          <a:ext cx="0" cy="0"/>
          <a:chOff x="0" y="0"/>
          <a:chExt cx="0" cy="0"/>
        </a:xfrm>
      </p:grpSpPr>
      <p:sp>
        <p:nvSpPr>
          <p:cNvPr name="TextBox 2" id="2"/>
          <p:cNvSpPr txBox="true"/>
          <p:nvPr/>
        </p:nvSpPr>
        <p:spPr>
          <a:xfrm rot="0">
            <a:off x="3442710" y="3369664"/>
            <a:ext cx="11402580" cy="3185722"/>
          </a:xfrm>
          <a:prstGeom prst="rect">
            <a:avLst/>
          </a:prstGeom>
        </p:spPr>
        <p:txBody>
          <a:bodyPr anchor="t" rtlCol="false" tIns="0" lIns="0" bIns="0" rIns="0">
            <a:spAutoFit/>
          </a:bodyPr>
          <a:lstStyle/>
          <a:p>
            <a:pPr algn="ctr" marL="0" indent="0" lvl="0">
              <a:lnSpc>
                <a:spcPts val="26009"/>
              </a:lnSpc>
              <a:spcBef>
                <a:spcPct val="0"/>
              </a:spcBef>
            </a:pPr>
            <a:r>
              <a:rPr lang="en-US" b="true" sz="18577" i="true">
                <a:solidFill>
                  <a:srgbClr val="4D9632"/>
                </a:solidFill>
                <a:latin typeface="Cormorant Garamond Bold Italics"/>
                <a:ea typeface="Cormorant Garamond Bold Italics"/>
                <a:cs typeface="Cormorant Garamond Bold Italics"/>
                <a:sym typeface="Cormorant Garamond Bold Italics"/>
              </a:rPr>
              <a:t>Thank you</a:t>
            </a:r>
          </a:p>
        </p:txBody>
      </p:sp>
      <p:sp>
        <p:nvSpPr>
          <p:cNvPr name="AutoShape 3" id="3"/>
          <p:cNvSpPr/>
          <p:nvPr/>
        </p:nvSpPr>
        <p:spPr>
          <a:xfrm>
            <a:off x="5897880" y="2215083"/>
            <a:ext cx="6492240" cy="0"/>
          </a:xfrm>
          <a:prstGeom prst="line">
            <a:avLst/>
          </a:prstGeom>
          <a:ln cap="flat" w="76200">
            <a:solidFill>
              <a:srgbClr val="0F4662"/>
            </a:solidFill>
            <a:prstDash val="solid"/>
            <a:headEnd type="none" len="sm" w="sm"/>
            <a:tailEnd type="none" len="sm" w="sm"/>
          </a:ln>
        </p:spPr>
      </p:sp>
      <p:sp>
        <p:nvSpPr>
          <p:cNvPr name="Freeform 4" id="4"/>
          <p:cNvSpPr/>
          <p:nvPr/>
        </p:nvSpPr>
        <p:spPr>
          <a:xfrm flipH="false" flipV="false" rot="0">
            <a:off x="8304001" y="1116666"/>
            <a:ext cx="1679997" cy="249900"/>
          </a:xfrm>
          <a:custGeom>
            <a:avLst/>
            <a:gdLst/>
            <a:ahLst/>
            <a:cxnLst/>
            <a:rect r="r" b="b" t="t" l="l"/>
            <a:pathLst>
              <a:path h="249900" w="1679997">
                <a:moveTo>
                  <a:pt x="0" y="0"/>
                </a:moveTo>
                <a:lnTo>
                  <a:pt x="1679998" y="0"/>
                </a:lnTo>
                <a:lnTo>
                  <a:pt x="1679998" y="249899"/>
                </a:lnTo>
                <a:lnTo>
                  <a:pt x="0" y="2498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a:off x="5897880" y="8159883"/>
            <a:ext cx="6492240" cy="0"/>
          </a:xfrm>
          <a:prstGeom prst="line">
            <a:avLst/>
          </a:prstGeom>
          <a:ln cap="flat" w="76200">
            <a:solidFill>
              <a:srgbClr val="0F4662"/>
            </a:solidFill>
            <a:prstDash val="solid"/>
            <a:headEnd type="none" len="sm" w="sm"/>
            <a:tailEnd type="none" len="sm" w="sm"/>
          </a:ln>
        </p:spPr>
      </p:sp>
      <p:sp>
        <p:nvSpPr>
          <p:cNvPr name="Freeform 6" id="6"/>
          <p:cNvSpPr/>
          <p:nvPr/>
        </p:nvSpPr>
        <p:spPr>
          <a:xfrm flipH="false" flipV="false" rot="0">
            <a:off x="8304001" y="9008400"/>
            <a:ext cx="1679997" cy="249900"/>
          </a:xfrm>
          <a:custGeom>
            <a:avLst/>
            <a:gdLst/>
            <a:ahLst/>
            <a:cxnLst/>
            <a:rect r="r" b="b" t="t" l="l"/>
            <a:pathLst>
              <a:path h="249900" w="1679997">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DAGn544h9iQ</dc:identifier>
  <dcterms:modified xsi:type="dcterms:W3CDTF">2011-08-01T06:04:30Z</dcterms:modified>
  <cp:revision>1</cp:revision>
  <dc:title>Vanishing Green:India’s Battle With Pollution</dc:title>
</cp:coreProperties>
</file>